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f4cd67bb0a459d" /><Relationship Type="http://schemas.openxmlformats.org/officeDocument/2006/relationships/extended-properties" Target="/docProps/app.xml" Id="R40420177aa4d40e6" /><Relationship Type="http://schemas.openxmlformats.org/officeDocument/2006/relationships/officeDocument" Target="/ppt/presentation.xml" Id="R2ddb93799a824d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65b3defcbb4069"/>
  </p:sldMasterIdLst>
  <p:notesMasterIdLst>
    <p:notesMasterId xmlns:r="http://schemas.openxmlformats.org/officeDocument/2006/relationships" r:id="R8dcd165b106b4ac6"/>
  </p:notesMasterIdLst>
  <p:sldIdLst>
    <p:sldId xmlns:r="http://schemas.openxmlformats.org/officeDocument/2006/relationships" id="256" r:id="Rc69c36c134094c35"/>
    <p:sldId xmlns:r="http://schemas.openxmlformats.org/officeDocument/2006/relationships" id="257" r:id="Rcccf759440874ffc"/>
    <p:sldId xmlns:r="http://schemas.openxmlformats.org/officeDocument/2006/relationships" id="258" r:id="R08827d7e62c048b4"/>
    <p:sldId xmlns:r="http://schemas.openxmlformats.org/officeDocument/2006/relationships" id="259" r:id="Re8bc0689dff04004"/>
    <p:sldId xmlns:r="http://schemas.openxmlformats.org/officeDocument/2006/relationships" id="260" r:id="R9781d3f270cc4e1b"/>
    <p:sldId xmlns:r="http://schemas.openxmlformats.org/officeDocument/2006/relationships" id="261" r:id="R0b0f07af9e9b4a6d"/>
    <p:sldId xmlns:r="http://schemas.openxmlformats.org/officeDocument/2006/relationships" id="262" r:id="R6c895b08b1224674"/>
    <p:sldId xmlns:r="http://schemas.openxmlformats.org/officeDocument/2006/relationships" id="263" r:id="Rde695ef794594fb4"/>
    <p:sldId xmlns:r="http://schemas.openxmlformats.org/officeDocument/2006/relationships" id="264" r:id="R06af65367f264fda"/>
    <p:sldId xmlns:r="http://schemas.openxmlformats.org/officeDocument/2006/relationships" id="265" r:id="R77006ec7359e4b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d882ee0b54736" /><Relationship Type="http://schemas.openxmlformats.org/officeDocument/2006/relationships/slideMaster" Target="/ppt/slideMasters/slideMaster1.xml" Id="R5765b3defcbb4069" /><Relationship Type="http://schemas.openxmlformats.org/officeDocument/2006/relationships/notesMaster" Target="/ppt/notesMasters/notesMaster1.xml" Id="R8dcd165b106b4ac6" /><Relationship Type="http://schemas.openxmlformats.org/officeDocument/2006/relationships/presProps" Target="/ppt/presProps.xml" Id="R75fe1ce1f5a847d7" /><Relationship Type="http://schemas.openxmlformats.org/officeDocument/2006/relationships/tableStyles" Target="/ppt/tableStyles.xml" Id="R36bdfa3e05f1489a" /><Relationship Type="http://schemas.openxmlformats.org/officeDocument/2006/relationships/slide" Target="/ppt/slides/slide1.xml" Id="Rc69c36c134094c35" /><Relationship Type="http://schemas.openxmlformats.org/officeDocument/2006/relationships/slide" Target="/ppt/slides/slide2.xml" Id="Rcccf759440874ffc" /><Relationship Type="http://schemas.openxmlformats.org/officeDocument/2006/relationships/slide" Target="/ppt/slides/slide3.xml" Id="R08827d7e62c048b4" /><Relationship Type="http://schemas.openxmlformats.org/officeDocument/2006/relationships/slide" Target="/ppt/slides/slide4.xml" Id="Re8bc0689dff04004" /><Relationship Type="http://schemas.openxmlformats.org/officeDocument/2006/relationships/slide" Target="/ppt/slides/slide5.xml" Id="R9781d3f270cc4e1b" /><Relationship Type="http://schemas.openxmlformats.org/officeDocument/2006/relationships/slide" Target="/ppt/slides/slide6.xml" Id="R0b0f07af9e9b4a6d" /><Relationship Type="http://schemas.openxmlformats.org/officeDocument/2006/relationships/slide" Target="/ppt/slides/slide7.xml" Id="R6c895b08b1224674" /><Relationship Type="http://schemas.openxmlformats.org/officeDocument/2006/relationships/slide" Target="/ppt/slides/slide8.xml" Id="Rde695ef794594fb4" /><Relationship Type="http://schemas.openxmlformats.org/officeDocument/2006/relationships/slide" Target="/ppt/slides/slide9.xml" Id="R06af65367f264fda" /><Relationship Type="http://schemas.openxmlformats.org/officeDocument/2006/relationships/slide" Target="/ppt/slides/slide10.xml" Id="R77006ec7359e4b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82ac4732414d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a05c0a5d014569" /><Relationship Type="http://schemas.openxmlformats.org/officeDocument/2006/relationships/notesMaster" Target="/ppt/notesMasters/notesMaster1.xml" Id="Rd1364650de7449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740800184b45ac" /><Relationship Type="http://schemas.openxmlformats.org/officeDocument/2006/relationships/notesMaster" Target="/ppt/notesMasters/notesMaster1.xml" Id="R17119bb99d2c47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cf2ba134734c5a" /><Relationship Type="http://schemas.openxmlformats.org/officeDocument/2006/relationships/notesMaster" Target="/ppt/notesMasters/notesMaster1.xml" Id="R6e7712bf011b40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69c3dc280e423b" /><Relationship Type="http://schemas.openxmlformats.org/officeDocument/2006/relationships/notesMaster" Target="/ppt/notesMasters/notesMaster1.xml" Id="Re76031c7f4f64d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c15cc733e84068" /><Relationship Type="http://schemas.openxmlformats.org/officeDocument/2006/relationships/notesMaster" Target="/ppt/notesMasters/notesMaster1.xml" Id="R18c383b44c4f47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ae9c0ee6414c2f" /><Relationship Type="http://schemas.openxmlformats.org/officeDocument/2006/relationships/notesMaster" Target="/ppt/notesMasters/notesMaster1.xml" Id="R29a3a000a4204a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324a0cc2b34f6c" /><Relationship Type="http://schemas.openxmlformats.org/officeDocument/2006/relationships/notesMaster" Target="/ppt/notesMasters/notesMaster1.xml" Id="R3cdc1691f2cc40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e79b59c8fd448c" /><Relationship Type="http://schemas.openxmlformats.org/officeDocument/2006/relationships/notesMaster" Target="/ppt/notesMasters/notesMaster1.xml" Id="R65cd98496dc746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1ff808c4794f24" /><Relationship Type="http://schemas.openxmlformats.org/officeDocument/2006/relationships/notesMaster" Target="/ppt/notesMasters/notesMaster1.xml" Id="Rec791860677244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62241b63c34eda" /><Relationship Type="http://schemas.openxmlformats.org/officeDocument/2006/relationships/notesMaster" Target="/ppt/notesMasters/notesMaster1.xml" Id="R3fcbd3e5544a4d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NextWave challenge brief</a:t>
            </a:r>
          </a:p>
          <a:p xmlns:a="http://schemas.openxmlformats.org/drawingml/2006/main">
            <a:r>
              <a:t>- 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Challenge 2 problem statement</a:t>
            </a:r>
          </a:p>
          <a:p xmlns:a="http://schemas.openxmlformats.org/drawingml/2006/main">
            <a:r>
              <a:t>- README.md — What runs end to 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Mermaid architecture and InjectionConfig boundary</a:t>
            </a:r>
          </a:p>
          <a:p xmlns:a="http://schemas.openxmlformats.org/drawingml/2006/main">
            <a:r>
              <a:t>- DECISIONS.md — DEC-044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SUBMISSION.md — Known-good demo</a:t>
            </a:r>
          </a:p>
          <a:p xmlns:a="http://schemas.openxmlformats.org/drawingml/2006/main">
            <a:r>
              <a:t>- Official Challenge 2 trial-by-fire requirement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RCA and narration boundaries</a:t>
            </a:r>
          </a:p>
          <a:p xmlns:a="http://schemas.openxmlformats.org/drawingml/2006/main">
            <a:r>
              <a:t>- DECISIONS.md — DEC-005, DEC-009, DEC-010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Regenerated artifacts/evaluation/evaluation_summary.md on 2026-08-30</a:t>
            </a:r>
          </a:p>
          <a:p xmlns:a="http://schemas.openxmlformats.org/drawingml/2006/main">
            <a:r>
              <a:t>- SUBMISSION.md — Technical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backend/telegram_notifications.py</a:t>
            </a:r>
          </a:p>
          <a:p xmlns:a="http://schemas.openxmlformats.org/drawingml/2006/main">
            <a:r>
              <a:t>- .env.example — Telegram defaults</a:t>
            </a:r>
          </a:p>
          <a:p xmlns:a="http://schemas.openxmlformats.org/drawingml/2006/main">
            <a:r>
              <a:t>- DECISIONS.md — DEC-044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frontend/yuno_demo.py</a:t>
            </a:r>
          </a:p>
          <a:p xmlns:a="http://schemas.openxmlformats.org/drawingml/2006/main">
            <a:r>
              <a:t>- backend/yuno_sandbox.py</a:t>
            </a:r>
          </a:p>
          <a:p xmlns:a="http://schemas.openxmlformats.org/drawingml/2006/main">
            <a:r>
              <a:t>- DECISIONS.md — DEC-044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test run on 2026-08-30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SUBMISSION.md</a:t>
            </a:r>
          </a:p>
          <a:p xmlns:a="http://schemas.openxmlformats.org/drawingml/2006/main">
            <a:r>
              <a:t>- DECISIONS.md</a:t>
            </a:r>
          </a:p>
          <a:p xmlns:a="http://schemas.openxmlformats.org/drawingml/2006/main">
            <a:r>
              <a:t>- docs/DEMO_RECORDING_GUIDE.md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SUBMISSION.md — Executive summary</a:t>
            </a:r>
          </a:p>
          <a:p xmlns:a="http://schemas.openxmlformats.org/drawingml/2006/main">
            <a:r>
              <a:t>- Official Challenge 2 expected 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50f86f52b47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480ccdd33a4f8c" /><Relationship Type="http://schemas.openxmlformats.org/officeDocument/2006/relationships/slideLayout" Target="/ppt/slideLayouts/slideLayout1.xml" Id="Re6408c2bdfe647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408c2bdfe647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3ccd956084fec" /><Relationship Type="http://schemas.openxmlformats.org/officeDocument/2006/relationships/notesSlide" Target="/ppt/notesSlides/notesSlide1.xml" Id="Rc7b85dbcbf7d47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abc5a6a364bef" /><Relationship Type="http://schemas.openxmlformats.org/officeDocument/2006/relationships/notesSlide" Target="/ppt/notesSlides/notesSlide2.xml" Id="Re9415c5730df4a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1b6049b094ad1" /><Relationship Type="http://schemas.openxmlformats.org/officeDocument/2006/relationships/notesSlide" Target="/ppt/notesSlides/notesSlide3.xml" Id="Rec0032ef58784f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24e21e25c4064" /><Relationship Type="http://schemas.openxmlformats.org/officeDocument/2006/relationships/notesSlide" Target="/ppt/notesSlides/notesSlide4.xml" Id="Ra3bb43a5c51446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677ebd4654e76" /><Relationship Type="http://schemas.openxmlformats.org/officeDocument/2006/relationships/notesSlide" Target="/ppt/notesSlides/notesSlide5.xml" Id="Rb92b884607d64c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e81a8117d48eb" /><Relationship Type="http://schemas.openxmlformats.org/officeDocument/2006/relationships/notesSlide" Target="/ppt/notesSlides/notesSlide6.xml" Id="R9ffbf08d548a43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09bfcdf99437b" /><Relationship Type="http://schemas.openxmlformats.org/officeDocument/2006/relationships/notesSlide" Target="/ppt/notesSlides/notesSlide7.xml" Id="R6132801f3c264e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1fda742244590" /><Relationship Type="http://schemas.openxmlformats.org/officeDocument/2006/relationships/notesSlide" Target="/ppt/notesSlides/notesSlide8.xml" Id="Rf4b91223269d45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02133e86b46a1" /><Relationship Type="http://schemas.openxmlformats.org/officeDocument/2006/relationships/notesSlide" Target="/ppt/notesSlides/notesSlide9.xml" Id="Rcba13231fb3345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2790a53b94401" /><Relationship Type="http://schemas.openxmlformats.org/officeDocument/2006/relationships/notesSlide" Target="/ppt/notesSlides/notesSlide10.xml" Id="R0c5fa0b1f1404c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field">
            <a:extLst xmlns:a="http://schemas.openxmlformats.org/drawingml/2006/main">
              <a:ext uri="{FF2B5EF4-FFF2-40B4-BE49-F238E27FC236}">
                <a16:creationId xmlns:a16="http://schemas.microsoft.com/office/drawing/2014/main" id="{14EF5394-BDAB-438E-81D0-7368784A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829300"/>
          </a:xfrm>
          <a:prstGeom xmlns:a="http://schemas.openxmlformats.org/drawingml/2006/main" prst="roundRect">
            <a:avLst>
              <a:gd name="adj" fmla="val 2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title-accent-top">
            <a:extLst xmlns:a="http://schemas.openxmlformats.org/drawingml/2006/main">
              <a:ext uri="{FF2B5EF4-FFF2-40B4-BE49-F238E27FC236}">
                <a16:creationId xmlns:a16="http://schemas.microsoft.com/office/drawing/2014/main" id="{3FDEA817-1D88-4851-AF5A-8C23FBB1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accent-mid">
            <a:extLst xmlns:a="http://schemas.openxmlformats.org/drawingml/2006/main">
              <a:ext uri="{FF2B5EF4-FFF2-40B4-BE49-F238E27FC236}">
                <a16:creationId xmlns:a16="http://schemas.microsoft.com/office/drawing/2014/main" id="{5E5A9B01-7F7C-418A-B871-BC45D932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6EE02BDD-F31E-4425-98A2-35640C03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668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NEXTWAVE HACKATHON 2026 · CHALLENGE 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7ACA6ED-B696-4A05-B12A-88156E82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202124"/>
                </a:solidFill>
              </a:defRPr>
            </a:pPr>
            <a:r>
              <a:rPr sz="5100" b="1" i="0">
                <a:solidFill>
                  <a:srgbClr val="202124"/>
                </a:solidFill>
              </a:rPr>
              <a:t>Control Tower</a:t>
            </a:r>
          </a:p>
        </p:txBody>
      </p:sp>
      <p:sp>
        <p:nvSpPr>
          <p:cNvPr id="6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E6B3C3CE-C338-4D92-9E45-A1391324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8707A"/>
                </a:solidFill>
              </a:defRPr>
            </a:pPr>
            <a:r>
              <a:rPr sz="1875" b="0" i="0">
                <a:solidFill>
                  <a:srgbClr val="68707A"/>
                </a:solidFill>
              </a:rPr>
              <a:t>Evidence-first payment incident detection and diagnosis</a:t>
            </a:r>
          </a:p>
        </p:txBody>
      </p:sp>
      <p:sp>
        <p:nvSpPr>
          <p:cNvPr id="7" name="team-label">
            <a:extLst xmlns:a="http://schemas.openxmlformats.org/drawingml/2006/main">
              <a:ext uri="{FF2B5EF4-FFF2-40B4-BE49-F238E27FC236}">
                <a16:creationId xmlns:a16="http://schemas.microsoft.com/office/drawing/2014/main" id="{AAA1CC0C-D99C-455A-9086-0AD332D9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TEAM MOCHE</a:t>
            </a:r>
          </a:p>
        </p:txBody>
      </p:sp>
      <p:sp>
        <p:nvSpPr>
          <p:cNvPr id="8" name="team">
            <a:extLst xmlns:a="http://schemas.openxmlformats.org/drawingml/2006/main">
              <a:ext uri="{FF2B5EF4-FFF2-40B4-BE49-F238E27FC236}">
                <a16:creationId xmlns:a16="http://schemas.microsoft.com/office/drawing/2014/main" id="{D0314E52-4361-45CC-9C85-FAD04FC3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02124"/>
                </a:solidFill>
              </a:defRPr>
            </a:pPr>
            <a:r>
              <a:rPr sz="1650" b="0" i="0">
                <a:solidFill>
                  <a:srgbClr val="202124"/>
                </a:solidFill>
              </a:rPr>
              <a:t>Sofia Bottino · Inés Mestres · Victoria Persico · Sofia Yabo</a:t>
            </a:r>
          </a:p>
        </p:txBody>
      </p:sp>
      <p:sp>
        <p:nvSpPr>
          <p:cNvPr id="9" name="title-promise">
            <a:extLst xmlns:a="http://schemas.openxmlformats.org/drawingml/2006/main">
              <a:ext uri="{FF2B5EF4-FFF2-40B4-BE49-F238E27FC236}">
                <a16:creationId xmlns:a16="http://schemas.microsoft.com/office/drawing/2014/main" id="{0178F747-3990-4F2A-8C4E-DB47B644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02124"/>
                </a:solidFill>
              </a:defRPr>
            </a:pPr>
            <a:r>
              <a:rPr sz="1500" b="1" i="0">
                <a:solidFill>
                  <a:srgbClr val="202124"/>
                </a:solidFill>
              </a:rPr>
              <a:t>Detect the loss. Prove the cause. Keep the human in control.</a:t>
            </a:r>
          </a:p>
        </p:txBody>
      </p:sp>
    </p:spTree>
    <p:extLst>
      <p:ext uri="{BB962C8B-B14F-4D97-AF65-F5344CB8AC3E}">
        <p14:creationId xmlns:p14="http://schemas.microsoft.com/office/powerpoint/2010/main" val="2068103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field">
            <a:extLst xmlns:a="http://schemas.openxmlformats.org/drawingml/2006/main">
              <a:ext uri="{FF2B5EF4-FFF2-40B4-BE49-F238E27FC236}">
                <a16:creationId xmlns:a16="http://schemas.microsoft.com/office/drawing/2014/main" id="{A5228319-C60D-4412-AE6A-81F6E8B4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096000"/>
          </a:xfrm>
          <a:prstGeom xmlns:a="http://schemas.openxmlformats.org/drawingml/2006/main" prst="roundRect">
            <a:avLst>
              <a:gd name="adj" fmla="val 2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276497A-2650-43A9-8F3E-5777D75B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E8994E9-C10A-4A68-9839-46BF5F6C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282D"/>
                </a:solidFill>
              </a:defRPr>
            </a:pPr>
            <a:r>
              <a:rPr sz="1050" b="1" i="0">
                <a:solidFill>
                  <a:srgbClr val="C6282D"/>
                </a:solidFill>
              </a:rPr>
              <a:t>THE PROBLEM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1C832A-89DE-4D3A-BDFE-DE09600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124"/>
                </a:solidFill>
              </a:defRPr>
            </a:pPr>
            <a:r>
              <a:rPr sz="3000" b="1" i="0">
                <a:solidFill>
                  <a:srgbClr val="202124"/>
                </a:solidFill>
              </a:rPr>
              <a:t>A payment failure becomes a customer loss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B2D72B-3AE0-442E-A0BB-3C5C676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800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8707A"/>
                </a:solidFill>
              </a:defRPr>
            </a:pPr>
            <a:r>
              <a:rPr sz="1050" b="1" i="0">
                <a:solidFill>
                  <a:srgbClr val="68707A"/>
                </a:solidFill>
              </a:rPr>
              <a:t>02</a:t>
            </a:r>
          </a:p>
        </p:txBody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BDC97451-8E50-422B-9690-32DEA872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02124"/>
                </a:solidFill>
              </a:defRPr>
            </a:pPr>
            <a:r>
              <a:rPr sz="2025" b="1" i="0">
                <a:solidFill>
                  <a:srgbClr val="202124"/>
                </a:solidFill>
              </a:rPr>
              <a:t>Approval rates fall inside noisy, multi-dimensional traffic.</a:t>
            </a:r>
          </a:p>
        </p:txBody>
      </p:sp>
      <p:sp>
        <p:nvSpPr>
          <p:cNvPr id="7" name="problem-number-0">
            <a:extLst xmlns:a="http://schemas.openxmlformats.org/drawingml/2006/main">
              <a:ext uri="{FF2B5EF4-FFF2-40B4-BE49-F238E27FC236}">
                <a16:creationId xmlns:a16="http://schemas.microsoft.com/office/drawing/2014/main" id="{058C7905-E368-4EF6-BB24-699E0161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6282D"/>
                </a:solidFill>
              </a:defRPr>
            </a:pPr>
            <a:r>
              <a:rPr sz="1350" b="1" i="0">
                <a:solidFill>
                  <a:srgbClr val="C6282D"/>
                </a:solidFill>
              </a:rPr>
              <a:t>01</a:t>
            </a:r>
          </a:p>
        </p:txBody>
      </p:sp>
      <p:sp>
        <p:nvSpPr>
          <p:cNvPr id="8" name="problem-head-0">
            <a:extLst xmlns:a="http://schemas.openxmlformats.org/drawingml/2006/main">
              <a:ext uri="{FF2B5EF4-FFF2-40B4-BE49-F238E27FC236}">
                <a16:creationId xmlns:a16="http://schemas.microsoft.com/office/drawing/2014/main" id="{DBBA7072-6E59-4B7D-B28C-BD5A6E74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14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02124"/>
                </a:solidFill>
              </a:defRPr>
            </a:pPr>
            <a:r>
              <a:rPr sz="1725" b="1" i="0">
                <a:solidFill>
                  <a:srgbClr val="202124"/>
                </a:solidFill>
              </a:rPr>
              <a:t>Late detection</a:t>
            </a:r>
          </a:p>
        </p:txBody>
      </p:sp>
      <p:sp>
        <p:nvSpPr>
          <p:cNvPr id="9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16CFBFDB-4792-4D12-B0C8-F5CE6141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A"/>
                </a:solidFill>
              </a:defRPr>
            </a:pPr>
            <a:r>
              <a:rPr sz="1350" b="0" i="0">
                <a:solidFill>
                  <a:srgbClr val="68707A"/>
                </a:solidFill>
              </a:rPr>
              <a:t>Operations teams often learn after the revenue damage is visible.</a:t>
            </a:r>
          </a:p>
        </p:txBody>
      </p:sp>
      <p:sp>
        <p:nvSpPr>
          <p:cNvPr id="10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53B8C0A5-2E1C-4851-AB14-BCB7D089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528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1" name="problem-number-1">
            <a:extLst xmlns:a="http://schemas.openxmlformats.org/drawingml/2006/main">
              <a:ext uri="{FF2B5EF4-FFF2-40B4-BE49-F238E27FC236}">
                <a16:creationId xmlns:a16="http://schemas.microsoft.com/office/drawing/2014/main" id="{F5FCE793-A6D9-4EEC-9EA8-25BF7D10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6282D"/>
                </a:solidFill>
              </a:defRPr>
            </a:pPr>
            <a:r>
              <a:rPr sz="1350" b="1" i="0">
                <a:solidFill>
                  <a:srgbClr val="C6282D"/>
                </a:solidFill>
              </a:rPr>
              <a:t>02</a:t>
            </a:r>
          </a:p>
        </p:txBody>
      </p:sp>
      <p:sp>
        <p:nvSpPr>
          <p:cNvPr id="12" name="problem-head-1">
            <a:extLst xmlns:a="http://schemas.openxmlformats.org/drawingml/2006/main">
              <a:ext uri="{FF2B5EF4-FFF2-40B4-BE49-F238E27FC236}">
                <a16:creationId xmlns:a16="http://schemas.microsoft.com/office/drawing/2014/main" id="{0DE2A2D3-46EC-4284-98AB-B1568EFC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90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02124"/>
                </a:solidFill>
              </a:defRPr>
            </a:pPr>
            <a:r>
              <a:rPr sz="1725" b="1" i="0">
                <a:solidFill>
                  <a:srgbClr val="202124"/>
                </a:solidFill>
              </a:rPr>
              <a:t>Scattered evidence</a:t>
            </a:r>
          </a:p>
        </p:txBody>
      </p:sp>
      <p:sp>
        <p:nvSpPr>
          <p:cNvPr id="13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01A280C4-6F8C-41A2-AEC9-224C7584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04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A"/>
                </a:solidFill>
              </a:defRPr>
            </a:pPr>
            <a:r>
              <a:rPr sz="1350" b="0" i="0">
                <a:solidFill>
                  <a:srgbClr val="68707A"/>
                </a:solidFill>
              </a:rPr>
              <a:t>Provider, method, bank, country and decline-code signals disagree.</a:t>
            </a:r>
          </a:p>
        </p:txBody>
      </p:sp>
      <p:sp>
        <p:nvSpPr>
          <p:cNvPr id="14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71CC4523-3567-43F9-8DD5-FC5D46CF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5" name="problem-number-2">
            <a:extLst xmlns:a="http://schemas.openxmlformats.org/drawingml/2006/main">
              <a:ext uri="{FF2B5EF4-FFF2-40B4-BE49-F238E27FC236}">
                <a16:creationId xmlns:a16="http://schemas.microsoft.com/office/drawing/2014/main" id="{3E2B30BA-F03C-4A2F-99EA-CA333873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6282D"/>
                </a:solidFill>
              </a:defRPr>
            </a:pPr>
            <a:r>
              <a:rPr sz="1350" b="1" i="0">
                <a:solidFill>
                  <a:srgbClr val="C6282D"/>
                </a:solidFill>
              </a:rPr>
              <a:t>03</a:t>
            </a:r>
          </a:p>
        </p:txBody>
      </p:sp>
      <p:sp>
        <p:nvSpPr>
          <p:cNvPr id="16" name="problem-head-2">
            <a:extLst xmlns:a="http://schemas.openxmlformats.org/drawingml/2006/main">
              <a:ext uri="{FF2B5EF4-FFF2-40B4-BE49-F238E27FC236}">
                <a16:creationId xmlns:a16="http://schemas.microsoft.com/office/drawing/2014/main" id="{29B65AF1-2140-4242-A334-5EFDCD8F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672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02124"/>
                </a:solidFill>
              </a:defRPr>
            </a:pPr>
            <a:r>
              <a:rPr sz="1725" b="1" i="0">
                <a:solidFill>
                  <a:srgbClr val="202124"/>
                </a:solidFill>
              </a:rPr>
              <a:t>Unsafe urgency</a:t>
            </a:r>
          </a:p>
        </p:txBody>
      </p:sp>
      <p:sp>
        <p:nvSpPr>
          <p:cNvPr id="17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15C2F7F1-13A3-4DA9-A6E5-121C1D7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767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07A"/>
                </a:solidFill>
              </a:defRPr>
            </a:pPr>
            <a:r>
              <a:rPr sz="1350" b="0" i="0">
                <a:solidFill>
                  <a:srgbClr val="68707A"/>
                </a:solidFill>
              </a:rPr>
              <a:t>A fast guess can create a second incident through the wrong action.</a:t>
            </a:r>
          </a:p>
        </p:txBody>
      </p:sp>
      <p:sp>
        <p:nvSpPr>
          <p:cNvPr id="18" name="problem-close">
            <a:extLst xmlns:a="http://schemas.openxmlformats.org/drawingml/2006/main">
              <a:ext uri="{FF2B5EF4-FFF2-40B4-BE49-F238E27FC236}">
                <a16:creationId xmlns:a16="http://schemas.microsoft.com/office/drawing/2014/main" id="{7418E1C8-19C5-4129-B696-0A015E9E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6282D"/>
                </a:solidFill>
              </a:defRPr>
            </a:pPr>
            <a:r>
              <a:rPr sz="1500" b="1" i="0">
                <a:solidFill>
                  <a:srgbClr val="C6282D"/>
                </a:solidFill>
              </a:rPr>
              <a:t>The hard part is not seeing a drop. It is proving what failed, for whom, since when and at what cost.</a:t>
            </a:r>
          </a:p>
        </p:txBody>
      </p:sp>
    </p:spTree>
    <p:extLst>
      <p:ext uri="{BB962C8B-B14F-4D97-AF65-F5344CB8AC3E}">
        <p14:creationId xmlns:p14="http://schemas.microsoft.com/office/powerpoint/2010/main" val="369226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ontent-field">
            <a:extLst xmlns:a="http://schemas.openxmlformats.org/drawingml/2006/main">
              <a:ext uri="{FF2B5EF4-FFF2-40B4-BE49-F238E27FC236}">
                <a16:creationId xmlns:a16="http://schemas.microsoft.com/office/drawing/2014/main" id="{7A79E523-0214-47A6-BABF-DC42A0C6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096000"/>
          </a:xfrm>
          <a:prstGeom xmlns:a="http://schemas.openxmlformats.org/drawingml/2006/main" prst="roundRect">
            <a:avLst>
              <a:gd name="adj" fmla="val 2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4E36632-F862-45DA-85AF-35827B53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650BCD2-C0D3-43A4-9EED-80B2B3DA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282D"/>
                </a:solidFill>
              </a:defRPr>
            </a:pPr>
            <a:r>
              <a:rPr sz="1050" b="1" i="0">
                <a:solidFill>
                  <a:srgbClr val="C6282D"/>
                </a:solidFill>
              </a:rPr>
              <a:t>SOLUTION ARCHITECTURE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5B0E8B-C696-4946-97E1-05432170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124"/>
                </a:solidFill>
              </a:defRPr>
            </a:pPr>
            <a:r>
              <a:rPr sz="3000" b="1" i="0">
                <a:solidFill>
                  <a:srgbClr val="202124"/>
                </a:solidFill>
              </a:rPr>
              <a:t>One pipeline turns transactions into defensible action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FAB4C8-30EC-4B2A-BADB-246D687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800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8707A"/>
                </a:solidFill>
              </a:defRPr>
            </a:pPr>
            <a:r>
              <a:rPr sz="1050" b="1" i="0">
                <a:solidFill>
                  <a:srgbClr val="68707A"/>
                </a:solidFill>
              </a:rPr>
              <a:t>03</a:t>
            </a:r>
          </a:p>
        </p:txBody>
      </p:sp>
      <p:sp>
        <p:nvSpPr>
          <p:cNvPr id="6" name="pipeline-node-0">
            <a:extLst xmlns:a="http://schemas.openxmlformats.org/drawingml/2006/main">
              <a:ext uri="{FF2B5EF4-FFF2-40B4-BE49-F238E27FC236}">
                <a16:creationId xmlns:a16="http://schemas.microsoft.com/office/drawing/2014/main" id="{D7C1F1C0-339C-4DB9-90CC-72D967BB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6573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Live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transactions</a:t>
            </a:r>
          </a:p>
        </p:txBody>
      </p:sp>
      <p:sp>
        <p:nvSpPr>
          <p:cNvPr id="7" name="pipeline-node-1">
            <a:extLst xmlns:a="http://schemas.openxmlformats.org/drawingml/2006/main">
              <a:ext uri="{FF2B5EF4-FFF2-40B4-BE49-F238E27FC236}">
                <a16:creationId xmlns:a16="http://schemas.microsoft.com/office/drawing/2014/main" id="{E91F19E4-361E-48AC-9A06-1B718528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16573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Detect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meaningful drops</a:t>
            </a:r>
          </a:p>
        </p:txBody>
      </p:sp>
      <p:sp>
        <p:nvSpPr>
          <p:cNvPr id="8" name="pipeline-node-2">
            <a:extLst xmlns:a="http://schemas.openxmlformats.org/drawingml/2006/main">
              <a:ext uri="{FF2B5EF4-FFF2-40B4-BE49-F238E27FC236}">
                <a16:creationId xmlns:a16="http://schemas.microsoft.com/office/drawing/2014/main" id="{43FB9430-65B9-4672-A420-68A410B1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66950"/>
            <a:ext cx="16573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Separate +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prioritize</a:t>
            </a:r>
          </a:p>
        </p:txBody>
      </p:sp>
      <p:sp>
        <p:nvSpPr>
          <p:cNvPr id="9" name="pipeline-node-3">
            <a:extLst xmlns:a="http://schemas.openxmlformats.org/drawingml/2006/main">
              <a:ext uri="{FF2B5EF4-FFF2-40B4-BE49-F238E27FC236}">
                <a16:creationId xmlns:a16="http://schemas.microsoft.com/office/drawing/2014/main" id="{CC9D7495-C6C4-4823-ADEA-2BDF6D2B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66950"/>
            <a:ext cx="16573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Deterministic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root cause</a:t>
            </a:r>
          </a:p>
        </p:txBody>
      </p:sp>
      <p:sp>
        <p:nvSpPr>
          <p:cNvPr id="10" name="pipeline-node-4">
            <a:extLst xmlns:a="http://schemas.openxmlformats.org/drawingml/2006/main">
              <a:ext uri="{FF2B5EF4-FFF2-40B4-BE49-F238E27FC236}">
                <a16:creationId xmlns:a16="http://schemas.microsoft.com/office/drawing/2014/main" id="{3E4F509F-257E-48E0-A3D2-C68211D6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16573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Impact +</a:t>
            </a:r>
          </a:p>
          <a:p xmlns:a="http://schemas.openxmlformats.org/drawingml/2006/main">
            <a:pPr algn="ct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recommendation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38400" y="28289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282D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14850" y="28289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282D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91300" y="28289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282D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67750" y="28289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282D"/>
            </a:solidFill>
            <a:prstDash val="solid"/>
            <a:tailEnd type="triangle" w="sm" len="sm"/>
          </a:ln>
        </p:spPr>
      </p:cxnSp>
      <p:sp>
        <p:nvSpPr>
          <p:cNvPr id="15" name="architecture-boundary">
            <a:extLst xmlns:a="http://schemas.openxmlformats.org/drawingml/2006/main">
              <a:ext uri="{FF2B5EF4-FFF2-40B4-BE49-F238E27FC236}">
                <a16:creationId xmlns:a16="http://schemas.microsoft.com/office/drawing/2014/main" id="{3AFCC8D4-63FA-4437-A5CD-D08CA176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124"/>
                </a:solidFill>
              </a:defRPr>
            </a:pPr>
            <a:r>
              <a:rPr sz="1425" b="1" i="0">
                <a:solidFill>
                  <a:srgbClr val="202124"/>
                </a:solidFill>
              </a:rPr>
              <a:t>InjectionConfig stops at the simulator. Detector, RCA and narration never receive the judge's intended answer.</a:t>
            </a:r>
          </a:p>
        </p:txBody>
      </p:sp>
      <p:sp>
        <p:nvSpPr>
          <p:cNvPr id="16" name="delivery-band">
            <a:extLst xmlns:a="http://schemas.openxmlformats.org/drawingml/2006/main">
              <a:ext uri="{FF2B5EF4-FFF2-40B4-BE49-F238E27FC236}">
                <a16:creationId xmlns:a16="http://schemas.microsoft.com/office/drawing/2014/main" id="{047787DB-CA1B-4577-842D-4BAEFCD3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2870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livery-local">
            <a:extLst xmlns:a="http://schemas.openxmlformats.org/drawingml/2006/main">
              <a:ext uri="{FF2B5EF4-FFF2-40B4-BE49-F238E27FC236}">
                <a16:creationId xmlns:a16="http://schemas.microsoft.com/office/drawing/2014/main" id="{5D5848E6-44FF-48DA-B3F8-672A94B0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6282D"/>
                </a:solidFill>
              </a:defRPr>
            </a:pPr>
            <a:r>
              <a:rPr sz="1125" b="1" i="0">
                <a:solidFill>
                  <a:srgbClr val="C6282D"/>
                </a:solidFill>
              </a:rPr>
              <a:t>LOCAL INBOX</a:t>
            </a:r>
          </a:p>
        </p:txBody>
      </p:sp>
      <p:sp>
        <p:nvSpPr>
          <p:cNvPr id="18" name="delivery-local-copy">
            <a:extLst xmlns:a="http://schemas.openxmlformats.org/drawingml/2006/main">
              <a:ext uri="{FF2B5EF4-FFF2-40B4-BE49-F238E27FC236}">
                <a16:creationId xmlns:a16="http://schemas.microsoft.com/office/drawing/2014/main" id="{2998B222-7996-40CC-954F-EDB15C63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124"/>
                </a:solidFill>
              </a:defRPr>
            </a:pPr>
            <a:r>
              <a:rPr sz="1275" b="0" i="0">
                <a:solidFill>
                  <a:srgbClr val="202124"/>
                </a:solidFill>
              </a:rPr>
              <a:t>Reliable incident alert and acknowledgement</a:t>
            </a:r>
          </a:p>
        </p:txBody>
      </p:sp>
      <p:sp>
        <p:nvSpPr>
          <p:cNvPr id="19" name="delivery-telegram">
            <a:extLst xmlns:a="http://schemas.openxmlformats.org/drawingml/2006/main">
              <a:ext uri="{FF2B5EF4-FFF2-40B4-BE49-F238E27FC236}">
                <a16:creationId xmlns:a16="http://schemas.microsoft.com/office/drawing/2014/main" id="{CE670015-CD4D-4791-A1ED-34EF359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101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6282D"/>
                </a:solidFill>
              </a:defRPr>
            </a:pPr>
            <a:r>
              <a:rPr sz="1125" b="1" i="0">
                <a:solidFill>
                  <a:srgbClr val="C6282D"/>
                </a:solidFill>
              </a:rPr>
              <a:t>OPTIONAL TELEGRAM</a:t>
            </a:r>
          </a:p>
        </p:txBody>
      </p:sp>
      <p:sp>
        <p:nvSpPr>
          <p:cNvPr id="20" name="delivery-telegram-copy">
            <a:extLst xmlns:a="http://schemas.openxmlformats.org/drawingml/2006/main">
              <a:ext uri="{FF2B5EF4-FFF2-40B4-BE49-F238E27FC236}">
                <a16:creationId xmlns:a16="http://schemas.microsoft.com/office/drawing/2014/main" id="{530AF9CF-9E03-4E73-8C5A-2CDA8D61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62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124"/>
                </a:solidFill>
              </a:defRPr>
            </a:pPr>
            <a:r>
              <a:rPr sz="1275" b="0" i="0">
                <a:solidFill>
                  <a:srgbClr val="202124"/>
                </a:solidFill>
              </a:rPr>
              <a:t>Read-only, best-effort evidence summary</a:t>
            </a:r>
          </a:p>
        </p:txBody>
      </p:sp>
      <p:sp>
        <p:nvSpPr>
          <p:cNvPr id="21" name="delivery-yuno">
            <a:extLst xmlns:a="http://schemas.openxmlformats.org/drawingml/2006/main">
              <a:ext uri="{FF2B5EF4-FFF2-40B4-BE49-F238E27FC236}">
                <a16:creationId xmlns:a16="http://schemas.microsoft.com/office/drawing/2014/main" id="{1E667CF9-5E51-4C36-9D6F-167A8DA7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10125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6282D"/>
                </a:solidFill>
              </a:defRPr>
            </a:pPr>
            <a:r>
              <a:rPr sz="1125" b="1" i="0">
                <a:solidFill>
                  <a:srgbClr val="C6282D"/>
                </a:solidFill>
              </a:rPr>
              <a:t>SEPARATE YUNO SANDBOX</a:t>
            </a:r>
          </a:p>
        </p:txBody>
      </p:sp>
      <p:sp>
        <p:nvSpPr>
          <p:cNvPr id="22" name="delivery-yuno-copy">
            <a:extLst xmlns:a="http://schemas.openxmlformats.org/drawingml/2006/main">
              <a:ext uri="{FF2B5EF4-FFF2-40B4-BE49-F238E27FC236}">
                <a16:creationId xmlns:a16="http://schemas.microsoft.com/office/drawing/2014/main" id="{907934DE-C0CE-4299-A097-BC88F64C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02124"/>
                </a:solidFill>
              </a:defRPr>
            </a:pPr>
            <a:r>
              <a:rPr sz="1275" b="0" i="0">
                <a:solidFill>
                  <a:srgbClr val="202124"/>
                </a:solidFill>
              </a:rPr>
              <a:t>Integration health never changes payment metrics</a:t>
            </a:r>
          </a:p>
        </p:txBody>
      </p:sp>
    </p:spTree>
    <p:extLst>
      <p:ext uri="{BB962C8B-B14F-4D97-AF65-F5344CB8AC3E}">
        <p14:creationId xmlns:p14="http://schemas.microsoft.com/office/powerpoint/2010/main" val="1092471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ontent-field">
            <a:extLst xmlns:a="http://schemas.openxmlformats.org/drawingml/2006/main">
              <a:ext uri="{FF2B5EF4-FFF2-40B4-BE49-F238E27FC236}">
                <a16:creationId xmlns:a16="http://schemas.microsoft.com/office/drawing/2014/main" id="{6867DF87-2285-430F-AABC-921338DB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096000"/>
          </a:xfrm>
          <a:prstGeom xmlns:a="http://schemas.openxmlformats.org/drawingml/2006/main" prst="roundRect">
            <a:avLst>
              <a:gd name="adj" fmla="val 2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4651D92-0FEF-48A2-94ED-68BDE59B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B47A569-5981-4CCF-91D4-44DB97D2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282D"/>
                </a:solidFill>
              </a:defRPr>
            </a:pPr>
            <a:r>
              <a:rPr sz="1050" b="1" i="0">
                <a:solidFill>
                  <a:srgbClr val="C6282D"/>
                </a:solidFill>
              </a:rPr>
              <a:t>TRIAL BY FIRE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6E94CF-AE59-49DF-B00F-1E2A2E39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124"/>
                </a:solidFill>
              </a:defRPr>
            </a:pPr>
            <a:r>
              <a:rPr sz="3000" b="1" i="0">
                <a:solidFill>
                  <a:srgbClr val="202124"/>
                </a:solidFill>
              </a:rPr>
              <a:t>The judge can inject a new incident live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A1D5BB1-473B-47AD-A82B-E08F087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800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8707A"/>
                </a:solidFill>
              </a:defRPr>
            </a:pPr>
            <a:r>
              <a:rPr sz="1050" b="1" i="0">
                <a:solidFill>
                  <a:srgbClr val="68707A"/>
                </a:solidFill>
              </a:rPr>
              <a:t>04</a:t>
            </a:r>
          </a:p>
        </p:txBody>
      </p:sp>
      <p:sp>
        <p:nvSpPr>
          <p:cNvPr id="6" name="trial-subtitle">
            <a:extLst xmlns:a="http://schemas.openxmlformats.org/drawingml/2006/main">
              <a:ext uri="{FF2B5EF4-FFF2-40B4-BE49-F238E27FC236}">
                <a16:creationId xmlns:a16="http://schemas.microsoft.com/office/drawing/2014/main" id="{07BA22A5-BDEE-4E02-ADB4-4872965D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6282D"/>
                </a:solidFill>
              </a:defRPr>
            </a:pPr>
            <a:r>
              <a:rPr sz="1500" b="1" i="0">
                <a:solidFill>
                  <a:srgbClr val="C6282D"/>
                </a:solidFill>
              </a:rPr>
              <a:t>Known-good rehearsal: Rappi · Brazil · Stripe · 20% target approval · 6 windows</a:t>
            </a:r>
          </a:p>
        </p:txBody>
      </p:sp>
      <p:sp>
        <p:nvSpPr>
          <p:cNvPr id="7" name="trial-number-0">
            <a:extLst xmlns:a="http://schemas.openxmlformats.org/drawingml/2006/main">
              <a:ext uri="{FF2B5EF4-FFF2-40B4-BE49-F238E27FC236}">
                <a16:creationId xmlns:a16="http://schemas.microsoft.com/office/drawing/2014/main" id="{0B534172-C221-4C9D-A2EB-C2B37B80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rial-head-0">
            <a:extLst xmlns:a="http://schemas.openxmlformats.org/drawingml/2006/main">
              <a:ext uri="{FF2B5EF4-FFF2-40B4-BE49-F238E27FC236}">
                <a16:creationId xmlns:a16="http://schemas.microsoft.com/office/drawing/2014/main" id="{193F516D-2783-42FC-96F5-472A8F4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124"/>
                </a:solidFill>
              </a:defRPr>
            </a:pPr>
            <a:r>
              <a:rPr sz="1875" b="1" i="0">
                <a:solidFill>
                  <a:srgbClr val="202124"/>
                </a:solidFill>
              </a:rPr>
              <a:t>Normal</a:t>
            </a:r>
          </a:p>
        </p:txBody>
      </p:sp>
      <p:sp>
        <p:nvSpPr>
          <p:cNvPr id="9" name="trial-body-0">
            <a:extLst xmlns:a="http://schemas.openxmlformats.org/drawingml/2006/main">
              <a:ext uri="{FF2B5EF4-FFF2-40B4-BE49-F238E27FC236}">
                <a16:creationId xmlns:a16="http://schemas.microsoft.com/office/drawing/2014/main" id="{52CA4E65-06A9-4093-808B-E9C183A1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Two or three healthy windows</a:t>
            </a:r>
          </a:p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No false incident</a:t>
            </a:r>
          </a:p>
        </p:txBody>
      </p:sp>
      <p:sp>
        <p:nvSpPr>
          <p:cNvPr id="10" name="trial-number-1">
            <a:extLst xmlns:a="http://schemas.openxmlformats.org/drawingml/2006/main">
              <a:ext uri="{FF2B5EF4-FFF2-40B4-BE49-F238E27FC236}">
                <a16:creationId xmlns:a16="http://schemas.microsoft.com/office/drawing/2014/main" id="{9BCCA097-24AF-429C-8F53-BCCC746E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571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rial-head-1">
            <a:extLst xmlns:a="http://schemas.openxmlformats.org/drawingml/2006/main">
              <a:ext uri="{FF2B5EF4-FFF2-40B4-BE49-F238E27FC236}">
                <a16:creationId xmlns:a16="http://schemas.microsoft.com/office/drawing/2014/main" id="{5CA624E6-D2B9-4F4C-B622-D0EAB40B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124"/>
                </a:solidFill>
              </a:defRPr>
            </a:pPr>
            <a:r>
              <a:rPr sz="1875" b="1" i="0">
                <a:solidFill>
                  <a:srgbClr val="202124"/>
                </a:solidFill>
              </a:rPr>
              <a:t>Inject</a:t>
            </a:r>
          </a:p>
        </p:txBody>
      </p:sp>
      <p:sp>
        <p:nvSpPr>
          <p:cNvPr id="12" name="trial-body-1">
            <a:extLst xmlns:a="http://schemas.openxmlformats.org/drawingml/2006/main">
              <a:ext uri="{FF2B5EF4-FFF2-40B4-BE49-F238E27FC236}">
                <a16:creationId xmlns:a16="http://schemas.microsoft.com/office/drawing/2014/main" id="{87559E38-F76D-43C8-B8E6-19949DE0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00475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Judge chooses merchant, country</a:t>
            </a:r>
          </a:p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and one anomaly scope</a:t>
            </a:r>
          </a:p>
        </p:txBody>
      </p:sp>
      <p:sp>
        <p:nvSpPr>
          <p:cNvPr id="13" name="trial-number-2">
            <a:extLst xmlns:a="http://schemas.openxmlformats.org/drawingml/2006/main">
              <a:ext uri="{FF2B5EF4-FFF2-40B4-BE49-F238E27FC236}">
                <a16:creationId xmlns:a16="http://schemas.microsoft.com/office/drawing/2014/main" id="{4C151FF2-B329-42AD-A104-9BD11295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rial-head-2">
            <a:extLst xmlns:a="http://schemas.openxmlformats.org/drawingml/2006/main">
              <a:ext uri="{FF2B5EF4-FFF2-40B4-BE49-F238E27FC236}">
                <a16:creationId xmlns:a16="http://schemas.microsoft.com/office/drawing/2014/main" id="{F106168C-798D-41D3-B776-1AEAD9F2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124"/>
                </a:solidFill>
              </a:defRPr>
            </a:pPr>
            <a:r>
              <a:rPr sz="1875" b="1" i="0">
                <a:solidFill>
                  <a:srgbClr val="202124"/>
                </a:solidFill>
              </a:rPr>
              <a:t>Detect</a:t>
            </a:r>
          </a:p>
        </p:txBody>
      </p:sp>
      <p:sp>
        <p:nvSpPr>
          <p:cNvPr id="15" name="trial-body-2">
            <a:extLst xmlns:a="http://schemas.openxmlformats.org/drawingml/2006/main">
              <a:ext uri="{FF2B5EF4-FFF2-40B4-BE49-F238E27FC236}">
                <a16:creationId xmlns:a16="http://schemas.microsoft.com/office/drawing/2014/main" id="{92C33DBA-0359-486D-A51E-19CE2246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00475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Two-window persistence confirms</a:t>
            </a:r>
          </a:p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the conversion drop</a:t>
            </a:r>
          </a:p>
        </p:txBody>
      </p:sp>
      <p:sp>
        <p:nvSpPr>
          <p:cNvPr id="16" name="trial-number-3">
            <a:extLst xmlns:a="http://schemas.openxmlformats.org/drawingml/2006/main">
              <a:ext uri="{FF2B5EF4-FFF2-40B4-BE49-F238E27FC236}">
                <a16:creationId xmlns:a16="http://schemas.microsoft.com/office/drawing/2014/main" id="{0CD96D36-979F-4352-82C3-7A032ACA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71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rial-head-3">
            <a:extLst xmlns:a="http://schemas.openxmlformats.org/drawingml/2006/main">
              <a:ext uri="{FF2B5EF4-FFF2-40B4-BE49-F238E27FC236}">
                <a16:creationId xmlns:a16="http://schemas.microsoft.com/office/drawing/2014/main" id="{E25289C9-AD9E-4B84-B96A-EE504C88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124"/>
                </a:solidFill>
              </a:defRPr>
            </a:pPr>
            <a:r>
              <a:rPr sz="1875" b="1" i="0">
                <a:solidFill>
                  <a:srgbClr val="202124"/>
                </a:solidFill>
              </a:rPr>
              <a:t>Explain</a:t>
            </a:r>
          </a:p>
        </p:txBody>
      </p:sp>
      <p:sp>
        <p:nvSpPr>
          <p:cNvPr id="18" name="trial-body-3">
            <a:extLst xmlns:a="http://schemas.openxmlformats.org/drawingml/2006/main">
              <a:ext uri="{FF2B5EF4-FFF2-40B4-BE49-F238E27FC236}">
                <a16:creationId xmlns:a16="http://schemas.microsoft.com/office/drawing/2014/main" id="{A71321CB-189D-4AFB-BFD7-FED5B845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00475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Root cause, evidence, impact</a:t>
            </a:r>
          </a:p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and safe recommendation</a:t>
            </a:r>
          </a:p>
        </p:txBody>
      </p: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333500" y="2828925"/>
            <a:ext cx="2124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282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71925" y="2828925"/>
            <a:ext cx="2124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282D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610350" y="2828925"/>
            <a:ext cx="2124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282D"/>
            </a:solidFill>
            <a:prstDash val="solid"/>
            <a:tailEnd type="triangle" w="sm" len="sm"/>
          </a:ln>
        </p:spPr>
      </p:cxnSp>
      <p:sp>
        <p:nvSpPr>
          <p:cNvPr id="22" name="trial-result">
            <a:extLst xmlns:a="http://schemas.openxmlformats.org/drawingml/2006/main">
              <a:ext uri="{FF2B5EF4-FFF2-40B4-BE49-F238E27FC236}">
                <a16:creationId xmlns:a16="http://schemas.microsoft.com/office/drawing/2014/main" id="{B38CA17F-6C0C-4B7E-879F-6A60670C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0287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8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ial-result-text">
            <a:extLst xmlns:a="http://schemas.openxmlformats.org/drawingml/2006/main">
              <a:ext uri="{FF2B5EF4-FFF2-40B4-BE49-F238E27FC236}">
                <a16:creationId xmlns:a16="http://schemas.microsoft.com/office/drawing/2014/main" id="{9A31C6C4-9950-41BE-AE65-4882D7BA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24475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8653"/>
                </a:solidFill>
              </a:defRPr>
            </a:pPr>
            <a:r>
              <a:rPr sz="1575" b="1" i="0">
                <a:solidFill>
                  <a:srgbClr val="178653"/>
                </a:solidFill>
              </a:rPr>
              <a:t>Acceptance case: the incident is detected, diagnosed and prioritized without the team touching the system.</a:t>
            </a:r>
          </a:p>
        </p:txBody>
      </p:sp>
    </p:spTree>
    <p:extLst>
      <p:ext uri="{BB962C8B-B14F-4D97-AF65-F5344CB8AC3E}">
        <p14:creationId xmlns:p14="http://schemas.microsoft.com/office/powerpoint/2010/main" val="6462678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field">
            <a:extLst xmlns:a="http://schemas.openxmlformats.org/drawingml/2006/main">
              <a:ext uri="{FF2B5EF4-FFF2-40B4-BE49-F238E27FC236}">
                <a16:creationId xmlns:a16="http://schemas.microsoft.com/office/drawing/2014/main" id="{E167885F-5D0E-4BE7-ADC4-F15EC87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096000"/>
          </a:xfrm>
          <a:prstGeom xmlns:a="http://schemas.openxmlformats.org/drawingml/2006/main" prst="roundRect">
            <a:avLst>
              <a:gd name="adj" fmla="val 2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CF36C00F-4BDA-45B0-A0ED-67C465BA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AED69AAE-A605-4A73-BB7D-EE8B3E3D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282D"/>
                </a:solidFill>
              </a:defRPr>
            </a:pPr>
            <a:r>
              <a:rPr sz="1050" b="1" i="0">
                <a:solidFill>
                  <a:srgbClr val="C6282D"/>
                </a:solidFill>
              </a:rPr>
              <a:t>TRUST MODEL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55A2E3-FD16-4DEA-A056-AC89B6AE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124"/>
                </a:solidFill>
              </a:defRPr>
            </a:pPr>
            <a:r>
              <a:rPr sz="3000" b="1" i="0">
                <a:solidFill>
                  <a:srgbClr val="202124"/>
                </a:solidFill>
              </a:rPr>
              <a:t>Evidence first. AI second.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0E8E944-BFFE-4758-AB41-F2D8D373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800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8707A"/>
                </a:solidFill>
              </a:defRPr>
            </a:pPr>
            <a:r>
              <a:rPr sz="1050" b="1" i="0">
                <a:solidFill>
                  <a:srgbClr val="68707A"/>
                </a:solidFill>
              </a:rPr>
              <a:t>05</a:t>
            </a:r>
          </a:p>
        </p:txBody>
      </p:sp>
      <p:sp>
        <p:nvSpPr>
          <p:cNvPr id="6" name="facts-label">
            <a:extLst xmlns:a="http://schemas.openxmlformats.org/drawingml/2006/main">
              <a:ext uri="{FF2B5EF4-FFF2-40B4-BE49-F238E27FC236}">
                <a16:creationId xmlns:a16="http://schemas.microsoft.com/office/drawing/2014/main" id="{DFE1AF89-1946-4C70-8D9B-38DC3D24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DETERMINISTIC FACTS</a:t>
            </a:r>
          </a:p>
        </p:txBody>
      </p:sp>
      <p:sp>
        <p:nvSpPr>
          <p:cNvPr id="7" name="facts-big">
            <a:extLst xmlns:a="http://schemas.openxmlformats.org/drawingml/2006/main">
              <a:ext uri="{FF2B5EF4-FFF2-40B4-BE49-F238E27FC236}">
                <a16:creationId xmlns:a16="http://schemas.microsoft.com/office/drawing/2014/main" id="{57280AE4-EB32-4372-95F7-762E696A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124"/>
                </a:solidFill>
              </a:defRPr>
            </a:pPr>
            <a:r>
              <a:rPr sz="2550" b="1" i="0">
                <a:solidFill>
                  <a:srgbClr val="202124"/>
                </a:solidFill>
              </a:rPr>
              <a:t>The model cannot change</a:t>
            </a:r>
          </a:p>
          <a:p xmlns:a="http://schemas.openxmlformats.org/drawingml/2006/main">
            <a:pPr algn="l">
              <a:defRPr sz="2550" b="1" i="0">
                <a:solidFill>
                  <a:srgbClr val="202124"/>
                </a:solidFill>
              </a:defRPr>
            </a:pPr>
            <a:r>
              <a:rPr sz="2550" b="1" i="0">
                <a:solidFill>
                  <a:srgbClr val="202124"/>
                </a:solidFill>
              </a:rPr>
              <a:t>the diagnosis.</a:t>
            </a:r>
          </a:p>
        </p:txBody>
      </p:sp>
      <p:sp>
        <p:nvSpPr>
          <p:cNvPr id="8" name="facts-list">
            <a:extLst xmlns:a="http://schemas.openxmlformats.org/drawingml/2006/main">
              <a:ext uri="{FF2B5EF4-FFF2-40B4-BE49-F238E27FC236}">
                <a16:creationId xmlns:a16="http://schemas.microsoft.com/office/drawing/2014/main" id="{64384F95-2E4C-47D8-8DE3-B02F168F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Seasonal baseline and persistence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Slice comparisons and evidence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Estimated impact and priority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confirmed or insufficient_evidence</a:t>
            </a:r>
          </a:p>
        </p:txBody>
      </p:sp>
      <p:sp>
        <p:nvSpPr>
          <p:cNvPr id="9" name="evidence-divider">
            <a:extLst xmlns:a="http://schemas.openxmlformats.org/drawingml/2006/main">
              <a:ext uri="{FF2B5EF4-FFF2-40B4-BE49-F238E27FC236}">
                <a16:creationId xmlns:a16="http://schemas.microsoft.com/office/drawing/2014/main" id="{2D6FB12B-47FF-4708-B9D2-2F5BD3A5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7EE"/>
            </a:solidFill>
            <a:prstDash val="solid"/>
          </a:ln>
        </p:spPr>
      </p:sp>
      <p:sp>
        <p:nvSpPr>
          <p:cNvPr id="10" name="words-label">
            <a:extLst xmlns:a="http://schemas.openxmlformats.org/drawingml/2006/main">
              <a:ext uri="{FF2B5EF4-FFF2-40B4-BE49-F238E27FC236}">
                <a16:creationId xmlns:a16="http://schemas.microsoft.com/office/drawing/2014/main" id="{C75C90E5-4895-4718-A1AE-B027E63A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EVIDENCE-BOUND NARRATION</a:t>
            </a:r>
          </a:p>
        </p:txBody>
      </p:sp>
      <p:sp>
        <p:nvSpPr>
          <p:cNvPr id="11" name="words-big">
            <a:extLst xmlns:a="http://schemas.openxmlformats.org/drawingml/2006/main">
              <a:ext uri="{FF2B5EF4-FFF2-40B4-BE49-F238E27FC236}">
                <a16:creationId xmlns:a16="http://schemas.microsoft.com/office/drawing/2014/main" id="{3DE2DB55-50E0-4531-A5C3-7BF70EF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124"/>
                </a:solidFill>
              </a:defRPr>
            </a:pPr>
            <a:r>
              <a:rPr sz="2550" b="1" i="0">
                <a:solidFill>
                  <a:srgbClr val="202124"/>
                </a:solidFill>
              </a:rPr>
              <a:t>Mock or OpenAI explains</a:t>
            </a:r>
          </a:p>
          <a:p xmlns:a="http://schemas.openxmlformats.org/drawingml/2006/main">
            <a:pPr algn="l">
              <a:defRPr sz="2550" b="1" i="0">
                <a:solidFill>
                  <a:srgbClr val="202124"/>
                </a:solidFill>
              </a:defRPr>
            </a:pPr>
            <a:r>
              <a:rPr sz="2550" b="1" i="0">
                <a:solidFill>
                  <a:srgbClr val="202124"/>
                </a:solidFill>
              </a:rPr>
              <a:t>what is already proven.</a:t>
            </a:r>
          </a:p>
        </p:txBody>
      </p:sp>
      <p:sp>
        <p:nvSpPr>
          <p:cNvPr id="12" name="words-list">
            <a:extLst xmlns:a="http://schemas.openxmlformats.org/drawingml/2006/main">
              <a:ext uri="{FF2B5EF4-FFF2-40B4-BE49-F238E27FC236}">
                <a16:creationId xmlns:a16="http://schemas.microsoft.com/office/drawing/2014/main" id="{C91F08EC-428C-4618-9002-06DC37B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Structured incident snapshot only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No raw transaction history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No injection configuration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Honest abstention when evidence is weak</a:t>
            </a:r>
          </a:p>
        </p:txBody>
      </p:sp>
      <p:sp>
        <p:nvSpPr>
          <p:cNvPr id="13" name="evidence-close">
            <a:extLst xmlns:a="http://schemas.openxmlformats.org/drawingml/2006/main">
              <a:ext uri="{FF2B5EF4-FFF2-40B4-BE49-F238E27FC236}">
                <a16:creationId xmlns:a16="http://schemas.microsoft.com/office/drawing/2014/main" id="{C6CE6BB7-73EA-42D3-A27D-33201A2C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1019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vidence-close-text">
            <a:extLst xmlns:a="http://schemas.openxmlformats.org/drawingml/2006/main">
              <a:ext uri="{FF2B5EF4-FFF2-40B4-BE49-F238E27FC236}">
                <a16:creationId xmlns:a16="http://schemas.microsoft.com/office/drawing/2014/main" id="{5F660384-EE42-460F-AC22-1A47DA17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149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6282D"/>
                </a:solidFill>
              </a:defRPr>
            </a:pPr>
            <a:r>
              <a:rPr sz="1425" b="1" i="0">
                <a:solidFill>
                  <a:srgbClr val="C6282D"/>
                </a:solidFill>
              </a:rPr>
              <a:t>The assistant explains, but it cannot approve changes, contact providers or alter routing.</a:t>
            </a:r>
          </a:p>
        </p:txBody>
      </p:sp>
    </p:spTree>
    <p:extLst>
      <p:ext uri="{BB962C8B-B14F-4D97-AF65-F5344CB8AC3E}">
        <p14:creationId xmlns:p14="http://schemas.microsoft.com/office/powerpoint/2010/main" val="19988096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content-field">
            <a:extLst xmlns:a="http://schemas.openxmlformats.org/drawingml/2006/main">
              <a:ext uri="{FF2B5EF4-FFF2-40B4-BE49-F238E27FC236}">
                <a16:creationId xmlns:a16="http://schemas.microsoft.com/office/drawing/2014/main" id="{C34FF3E7-EAA1-4323-8EAE-5DADE966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096000"/>
          </a:xfrm>
          <a:prstGeom xmlns:a="http://schemas.openxmlformats.org/drawingml/2006/main" prst="roundRect">
            <a:avLst>
              <a:gd name="adj" fmla="val 2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4749661-471F-4DE4-A9B5-0CA63A4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4D22F55A-88A2-40D6-95E3-13369071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282D"/>
                </a:solidFill>
              </a:defRPr>
            </a:pPr>
            <a:r>
              <a:rPr sz="1050" b="1" i="0">
                <a:solidFill>
                  <a:srgbClr val="C6282D"/>
                </a:solidFill>
              </a:rPr>
              <a:t>VERIFIED EVALUATION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9F7EB6-8FFA-4AEA-925E-22C95A49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124"/>
                </a:solidFill>
              </a:defRPr>
            </a:pPr>
            <a:r>
              <a:rPr sz="3000" b="1" i="0">
                <a:solidFill>
                  <a:srgbClr val="202124"/>
                </a:solidFill>
              </a:rPr>
              <a:t>The system is measured on the hard cases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94C388B-0958-46B7-B3F3-BF3F7FC8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800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8707A"/>
                </a:solidFill>
              </a:defRPr>
            </a:pPr>
            <a:r>
              <a:rPr sz="1050" b="1" i="0">
                <a:solidFill>
                  <a:srgbClr val="68707A"/>
                </a:solidFill>
              </a:rPr>
              <a:t>06</a:t>
            </a:r>
          </a:p>
        </p:txBody>
      </p:sp>
      <p:sp>
        <p:nvSpPr>
          <p:cNvPr id="6" name="evaluation-context">
            <a:extLst xmlns:a="http://schemas.openxmlformats.org/drawingml/2006/main">
              <a:ext uri="{FF2B5EF4-FFF2-40B4-BE49-F238E27FC236}">
                <a16:creationId xmlns:a16="http://schemas.microsoft.com/office/drawing/2014/main" id="{1D69509A-99F8-4EDD-B81D-869C8C62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6282D"/>
                </a:solidFill>
              </a:defRPr>
            </a:pPr>
            <a:r>
              <a:rPr sz="1650" b="1" i="0">
                <a:solidFill>
                  <a:srgbClr val="C6282D"/>
                </a:solidFill>
              </a:rPr>
              <a:t>29 scenarios evaluated · 1 skipped · 23 passed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C5B515F8-EB57-47FD-84F8-AAB1E051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02124"/>
                </a:solidFill>
              </a:defRPr>
            </a:pPr>
            <a:r>
              <a:rPr sz="3300" b="1" i="0">
                <a:solidFill>
                  <a:srgbClr val="202124"/>
                </a:solidFill>
              </a:rPr>
              <a:t>80%</a:t>
            </a:r>
          </a:p>
        </p:txBody>
      </p:sp>
      <p:sp>
        <p:nvSpPr>
          <p:cNvPr id="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240CE383-CB71-406B-8214-67DB64FB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Detection recall</a:t>
            </a:r>
          </a:p>
        </p:txBody>
      </p:sp>
      <p:sp>
        <p:nvSpPr>
          <p:cNvPr id="9" name="metric-divider-0">
            <a:extLst xmlns:a="http://schemas.openxmlformats.org/drawingml/2006/main">
              <a:ext uri="{FF2B5EF4-FFF2-40B4-BE49-F238E27FC236}">
                <a16:creationId xmlns:a16="http://schemas.microsoft.com/office/drawing/2014/main" id="{8E41754D-5DA2-426A-BFFA-1390E6E1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B3436A48-55A3-4AAD-8144-62F2BC48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527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178653"/>
                </a:solidFill>
              </a:defRPr>
            </a:pPr>
            <a:r>
              <a:rPr sz="3300" b="1" i="0">
                <a:solidFill>
                  <a:srgbClr val="178653"/>
                </a:solidFill>
              </a:rPr>
              <a:t>0%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8FC76F6D-69F4-4685-97F3-05900FF2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4327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False-positive rate</a:t>
            </a:r>
          </a:p>
        </p:txBody>
      </p:sp>
      <p:sp>
        <p:nvSpPr>
          <p:cNvPr id="12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01645127-2D7F-402F-A16D-00E88E92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B52A543-9EF5-406C-BB5E-5179A7B5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02124"/>
                </a:solidFill>
              </a:defRPr>
            </a:pPr>
            <a:r>
              <a:rPr sz="3300" b="1" i="0">
                <a:solidFill>
                  <a:srgbClr val="202124"/>
                </a:solidFill>
              </a:rPr>
              <a:t>70%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1462F77-2A21-4A3C-9DF4-DF23DD1A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4327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Confirmed RCA accuracy</a:t>
            </a:r>
          </a:p>
        </p:txBody>
      </p:sp>
      <p:sp>
        <p:nvSpPr>
          <p:cNvPr id="15" name="metric-divider-2">
            <a:extLst xmlns:a="http://schemas.openxmlformats.org/drawingml/2006/main">
              <a:ext uri="{FF2B5EF4-FFF2-40B4-BE49-F238E27FC236}">
                <a16:creationId xmlns:a16="http://schemas.microsoft.com/office/drawing/2014/main" id="{DD17B4E8-4FE0-4F5A-9235-46372580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6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F2201080-10E2-4644-B162-974C946A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02124"/>
                </a:solidFill>
              </a:defRPr>
            </a:pPr>
            <a:r>
              <a:rPr sz="3300" b="1" i="0">
                <a:solidFill>
                  <a:srgbClr val="202124"/>
                </a:solidFill>
              </a:rPr>
              <a:t>75%</a:t>
            </a:r>
          </a:p>
        </p:txBody>
      </p:sp>
      <p:sp>
        <p:nvSpPr>
          <p:cNvPr id="17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EED6267F-C3AA-4588-87CF-4ED5A335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4327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Multi-incident separation</a:t>
            </a:r>
          </a:p>
        </p:txBody>
      </p:sp>
      <p:sp>
        <p:nvSpPr>
          <p:cNvPr id="18" name="metric-divider-3">
            <a:extLst xmlns:a="http://schemas.openxmlformats.org/drawingml/2006/main">
              <a:ext uri="{FF2B5EF4-FFF2-40B4-BE49-F238E27FC236}">
                <a16:creationId xmlns:a16="http://schemas.microsoft.com/office/drawing/2014/main" id="{0C35ED45-CF5C-4D5E-83AF-BB7EF6E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0" cy="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19" name="metric-value-4">
            <a:extLst xmlns:a="http://schemas.openxmlformats.org/drawingml/2006/main">
              <a:ext uri="{FF2B5EF4-FFF2-40B4-BE49-F238E27FC236}">
                <a16:creationId xmlns:a16="http://schemas.microsoft.com/office/drawing/2014/main" id="{055BCC9E-344E-4DBA-A16B-0F27952F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178653"/>
                </a:solidFill>
              </a:defRPr>
            </a:pPr>
            <a:r>
              <a:rPr sz="3300" b="1" i="0">
                <a:solidFill>
                  <a:srgbClr val="178653"/>
                </a:solidFill>
              </a:rPr>
              <a:t>100%</a:t>
            </a:r>
          </a:p>
        </p:txBody>
      </p:sp>
      <p:sp>
        <p:nvSpPr>
          <p:cNvPr id="20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00309BB7-0378-47B5-AC46-8F76584E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4327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Abstention accuracy</a:t>
            </a:r>
          </a:p>
        </p:txBody>
      </p:sp>
      <p:sp>
        <p:nvSpPr>
          <p:cNvPr id="21" name="latency-band">
            <a:extLst xmlns:a="http://schemas.openxmlformats.org/drawingml/2006/main">
              <a:ext uri="{FF2B5EF4-FFF2-40B4-BE49-F238E27FC236}">
                <a16:creationId xmlns:a16="http://schemas.microsoft.com/office/drawing/2014/main" id="{4040F506-74DA-420D-B440-E23D3C14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0287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tency-number">
            <a:extLst xmlns:a="http://schemas.openxmlformats.org/drawingml/2006/main">
              <a:ext uri="{FF2B5EF4-FFF2-40B4-BE49-F238E27FC236}">
                <a16:creationId xmlns:a16="http://schemas.microsoft.com/office/drawing/2014/main" id="{4626B872-9949-4CEA-8FD9-8C2B5402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C6282D"/>
                </a:solidFill>
              </a:defRPr>
            </a:pPr>
            <a:r>
              <a:rPr sz="2325" b="1" i="0">
                <a:solidFill>
                  <a:srgbClr val="C6282D"/>
                </a:solidFill>
              </a:rPr>
              <a:t>10 min</a:t>
            </a:r>
          </a:p>
        </p:txBody>
      </p:sp>
      <p:sp>
        <p:nvSpPr>
          <p:cNvPr id="23" name="latency-label">
            <a:extLst xmlns:a="http://schemas.openxmlformats.org/drawingml/2006/main">
              <a:ext uri="{FF2B5EF4-FFF2-40B4-BE49-F238E27FC236}">
                <a16:creationId xmlns:a16="http://schemas.microsoft.com/office/drawing/2014/main" id="{289D8A91-7959-4057-90BE-EC8ECFEB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43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02124"/>
                </a:solidFill>
              </a:defRPr>
            </a:pPr>
            <a:r>
              <a:rPr sz="1500" b="0" i="0">
                <a:solidFill>
                  <a:srgbClr val="202124"/>
                </a:solidFill>
              </a:rPr>
              <a:t>mean simulated detection latency</a:t>
            </a:r>
          </a:p>
        </p:txBody>
      </p:sp>
      <p:sp>
        <p:nvSpPr>
          <p:cNvPr id="24" name="loss-note">
            <a:extLst xmlns:a="http://schemas.openxmlformats.org/drawingml/2006/main">
              <a:ext uri="{FF2B5EF4-FFF2-40B4-BE49-F238E27FC236}">
                <a16:creationId xmlns:a16="http://schemas.microsoft.com/office/drawing/2014/main" id="{BD03B5B7-759B-40CC-B1BB-171EC41C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Estimated-loss error: unavailable — the catalog has no independent ground-truth loss label.</a:t>
            </a:r>
          </a:p>
        </p:txBody>
      </p:sp>
    </p:spTree>
    <p:extLst>
      <p:ext uri="{BB962C8B-B14F-4D97-AF65-F5344CB8AC3E}">
        <p14:creationId xmlns:p14="http://schemas.microsoft.com/office/powerpoint/2010/main" val="1805651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tent-field">
            <a:extLst xmlns:a="http://schemas.openxmlformats.org/drawingml/2006/main">
              <a:ext uri="{FF2B5EF4-FFF2-40B4-BE49-F238E27FC236}">
                <a16:creationId xmlns:a16="http://schemas.microsoft.com/office/drawing/2014/main" id="{1A822D5E-2349-49F1-99DF-3205F8B9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096000"/>
          </a:xfrm>
          <a:prstGeom xmlns:a="http://schemas.openxmlformats.org/drawingml/2006/main" prst="roundRect">
            <a:avLst>
              <a:gd name="adj" fmla="val 2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0D69199-EAE8-4A03-A6AA-0124674A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65D96142-E02F-4EFC-9563-521BFCA5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282D"/>
                </a:solidFill>
              </a:defRPr>
            </a:pPr>
            <a:r>
              <a:rPr sz="1050" b="1" i="0">
                <a:solidFill>
                  <a:srgbClr val="C6282D"/>
                </a:solidFill>
              </a:rPr>
              <a:t>HUMAN CONTROL + TELEGRAM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4AF578-016A-4B96-A036-A2F00A85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124"/>
                </a:solidFill>
              </a:defRPr>
            </a:pPr>
            <a:r>
              <a:rPr sz="3000" b="1" i="0">
                <a:solidFill>
                  <a:srgbClr val="202124"/>
                </a:solidFill>
              </a:rPr>
              <a:t>Alert locally. Extend safely to Telegram.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414D5A-EA64-42CE-9EA2-F5F61876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800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8707A"/>
                </a:solidFill>
              </a:defRPr>
            </a:pPr>
            <a:r>
              <a:rPr sz="1050" b="1" i="0">
                <a:solidFill>
                  <a:srgbClr val="68707A"/>
                </a:solidFill>
              </a:rPr>
              <a:t>07</a:t>
            </a:r>
          </a:p>
        </p:txBody>
      </p:sp>
      <p:sp>
        <p:nvSpPr>
          <p:cNvPr id="6" name="incident-source">
            <a:extLst xmlns:a="http://schemas.openxmlformats.org/drawingml/2006/main">
              <a:ext uri="{FF2B5EF4-FFF2-40B4-BE49-F238E27FC236}">
                <a16:creationId xmlns:a16="http://schemas.microsoft.com/office/drawing/2014/main" id="{09651122-B731-4A40-BFDE-C39166D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07645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Detected incident</a:t>
            </a:r>
          </a:p>
          <a:p xmlns:a="http://schemas.openxmlformats.org/drawingml/2006/main">
            <a:pPr algn="ctr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+ evidence</a:t>
            </a:r>
          </a:p>
        </p:txBody>
      </p:sp>
      <p:sp>
        <p:nvSpPr>
          <p:cNvPr id="7" name="local-inbox">
            <a:extLst xmlns:a="http://schemas.openxmlformats.org/drawingml/2006/main">
              <a:ext uri="{FF2B5EF4-FFF2-40B4-BE49-F238E27FC236}">
                <a16:creationId xmlns:a16="http://schemas.microsoft.com/office/drawing/2014/main" id="{39DB0E07-C245-4DB0-A890-73A98637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219075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Local inbox</a:t>
            </a:r>
          </a:p>
          <a:p xmlns:a="http://schemas.openxmlformats.org/drawingml/2006/main">
            <a:pPr algn="ctr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Always available</a:t>
            </a:r>
          </a:p>
        </p:txBody>
      </p:sp>
      <p:sp>
        <p:nvSpPr>
          <p:cNvPr id="8" name="telegram-alert">
            <a:extLst xmlns:a="http://schemas.openxmlformats.org/drawingml/2006/main">
              <a:ext uri="{FF2B5EF4-FFF2-40B4-BE49-F238E27FC236}">
                <a16:creationId xmlns:a16="http://schemas.microsoft.com/office/drawing/2014/main" id="{DF0677CC-C532-4E8D-ACBE-E9C60C5D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81375"/>
            <a:ext cx="219075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Telegram</a:t>
            </a:r>
          </a:p>
          <a:p xmlns:a="http://schemas.openxmlformats.org/drawingml/2006/main">
            <a:pPr algn="ctr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Opt-in · read-only</a:t>
            </a:r>
          </a:p>
        </p:txBody>
      </p:sp>
      <p:sp>
        <p:nvSpPr>
          <p:cNvPr id="9" name="dashboard-actions">
            <a:extLst xmlns:a="http://schemas.openxmlformats.org/drawingml/2006/main">
              <a:ext uri="{FF2B5EF4-FFF2-40B4-BE49-F238E27FC236}">
                <a16:creationId xmlns:a16="http://schemas.microsoft.com/office/drawing/2014/main" id="{7FFFEF27-6543-404B-8232-EEA77944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E8F6EF"/>
          </a:solidFill>
          <a:ln xmlns:a="http://schemas.openxmlformats.org/drawingml/2006/main" w="9525">
            <a:solidFill>
              <a:srgbClr val="17865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Control Tower</a:t>
            </a:r>
          </a:p>
          <a:p xmlns:a="http://schemas.openxmlformats.org/drawingml/2006/main">
            <a:pPr algn="ctr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Approve · reject · simulate · roll back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952750" y="2452688"/>
            <a:ext cx="1143000" cy="547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6282D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52750" y="3000375"/>
            <a:ext cx="1143000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6282D"/>
            </a:solidFill>
            <a:prstDash val="dash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286500" y="2452688"/>
            <a:ext cx="1238250" cy="585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8653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6286500" y="3038475"/>
            <a:ext cx="1238250" cy="842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78653"/>
            </a:solidFill>
            <a:prstDash val="dash"/>
            <a:tailEnd type="triangle" w="sm" len="sm"/>
          </a:ln>
        </p:spPr>
      </p:cxnSp>
      <p:sp>
        <p:nvSpPr>
          <p:cNvPr id="14" name="telegram-boundary">
            <a:extLst xmlns:a="http://schemas.openxmlformats.org/drawingml/2006/main">
              <a:ext uri="{FF2B5EF4-FFF2-40B4-BE49-F238E27FC236}">
                <a16:creationId xmlns:a16="http://schemas.microsoft.com/office/drawing/2014/main" id="{16F3E63C-0AEA-4F2C-8ED6-A0EF2906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998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02124"/>
                </a:solidFill>
              </a:defRPr>
            </a:pPr>
            <a:r>
              <a:rPr sz="1425" b="1" i="0">
                <a:solidFill>
                  <a:srgbClr val="202124"/>
                </a:solidFill>
              </a:rPr>
              <a:t>Telegram can carry the summary and an optional public HTTPS deep link. Delivery failure never interrupts monitoring, and no action can be executed from chat.</a:t>
            </a:r>
          </a:p>
        </p:txBody>
      </p:sp>
    </p:spTree>
    <p:extLst>
      <p:ext uri="{BB962C8B-B14F-4D97-AF65-F5344CB8AC3E}">
        <p14:creationId xmlns:p14="http://schemas.microsoft.com/office/powerpoint/2010/main" val="7342042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field">
            <a:extLst xmlns:a="http://schemas.openxmlformats.org/drawingml/2006/main">
              <a:ext uri="{FF2B5EF4-FFF2-40B4-BE49-F238E27FC236}">
                <a16:creationId xmlns:a16="http://schemas.microsoft.com/office/drawing/2014/main" id="{BF9901BC-F837-49DF-9459-63808915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096000"/>
          </a:xfrm>
          <a:prstGeom xmlns:a="http://schemas.openxmlformats.org/drawingml/2006/main" prst="roundRect">
            <a:avLst>
              <a:gd name="adj" fmla="val 2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3DE7B627-D356-4833-9E81-610F98D5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D8E5433B-EAE3-49FE-B5AE-99F6F237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282D"/>
                </a:solidFill>
              </a:defRPr>
            </a:pPr>
            <a:r>
              <a:rPr sz="1050" b="1" i="0">
                <a:solidFill>
                  <a:srgbClr val="C6282D"/>
                </a:solidFill>
              </a:rPr>
              <a:t>YUNO API MANAGER SANDBOX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305546-7FFD-432D-90BB-5C6F553C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124"/>
                </a:solidFill>
              </a:defRPr>
            </a:pPr>
            <a:r>
              <a:rPr sz="3000" b="1" i="0">
                <a:solidFill>
                  <a:srgbClr val="202124"/>
                </a:solidFill>
              </a:rPr>
              <a:t>Integration failures stay separate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A3CC58-145B-43EF-B44E-D99DD9BD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800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8707A"/>
                </a:solidFill>
              </a:defRPr>
            </a:pPr>
            <a:r>
              <a:rPr sz="1050" b="1" i="0">
                <a:solidFill>
                  <a:srgbClr val="68707A"/>
                </a:solidFill>
              </a:rPr>
              <a:t>08</a:t>
            </a:r>
          </a:p>
        </p:txBody>
      </p:sp>
      <p:sp>
        <p:nvSpPr>
          <p:cNvPr id="6" name="yuno-lead">
            <a:extLst xmlns:a="http://schemas.openxmlformats.org/drawingml/2006/main">
              <a:ext uri="{FF2B5EF4-FFF2-40B4-BE49-F238E27FC236}">
                <a16:creationId xmlns:a16="http://schemas.microsoft.com/office/drawing/2014/main" id="{0F18DA71-7079-42CA-8CE5-F32DFC24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124"/>
                </a:solidFill>
              </a:defRPr>
            </a:pPr>
            <a:r>
              <a:rPr sz="1650" b="1" i="0">
                <a:solidFill>
                  <a:srgbClr val="202124"/>
                </a:solidFill>
              </a:rPr>
              <a:t>A second local surface demonstrates API-operations handling without claiming a production Yuno integration.</a:t>
            </a:r>
          </a:p>
        </p:txBody>
      </p:sp>
      <p:sp>
        <p:nvSpPr>
          <p:cNvPr id="7" name="trusted-event">
            <a:extLst xmlns:a="http://schemas.openxmlformats.org/drawingml/2006/main">
              <a:ext uri="{FF2B5EF4-FFF2-40B4-BE49-F238E27FC236}">
                <a16:creationId xmlns:a16="http://schemas.microsoft.com/office/drawing/2014/main" id="{0D30FB0D-0FC2-432F-B5D3-B615B89A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4765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/>
            </a:pPr>
            <a:r>
              <a:rPr sz="1500" b="1"/>
              <a:t>Trusted malformed fixture</a:t>
            </a:r>
          </a:p>
          <a:p xmlns:a="http://schemas.openxmlformats.org/drawingml/2006/main">
            <a:pPr algn="ctr">
              <a:defRPr sz="1500" b="1"/>
            </a:pPr>
            <a:r>
              <a:rPr sz="1500" b="1"/>
              <a:t>Invalid amount</a:t>
            </a:r>
          </a:p>
        </p:txBody>
      </p:sp>
      <p:sp>
        <p:nvSpPr>
          <p:cNvPr id="8" name="trusted-outcome">
            <a:extLst xmlns:a="http://schemas.openxmlformats.org/drawingml/2006/main">
              <a:ext uri="{FF2B5EF4-FFF2-40B4-BE49-F238E27FC236}">
                <a16:creationId xmlns:a16="http://schemas.microsoft.com/office/drawing/2014/main" id="{C6613469-979F-4189-9F90-AB49CAF4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28575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/>
            </a:pPr>
            <a:r>
              <a:rPr sz="1500" b="1"/>
              <a:t>Isolate + local alert</a:t>
            </a:r>
          </a:p>
          <a:p xmlns:a="http://schemas.openxmlformats.org/drawingml/2006/main">
            <a:pPr algn="ctr">
              <a:defRPr sz="1500" b="1"/>
            </a:pPr>
            <a:r>
              <a:rPr sz="1500" b="1"/>
              <a:t>+ email preview</a:t>
            </a:r>
          </a:p>
        </p:txBody>
      </p: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52800" y="3171825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6282D"/>
            </a:solidFill>
            <a:prstDash val="solid"/>
            <a:tailEnd type="triangle" w="sm" len="sm"/>
          </a:ln>
        </p:spPr>
      </p:cxnSp>
      <p:sp>
        <p:nvSpPr>
          <p:cNvPr id="10" name="unsigned-event">
            <a:extLst xmlns:a="http://schemas.openxmlformats.org/drawingml/2006/main">
              <a:ext uri="{FF2B5EF4-FFF2-40B4-BE49-F238E27FC236}">
                <a16:creationId xmlns:a16="http://schemas.microsoft.com/office/drawing/2014/main" id="{E6DF5101-CDCD-4607-B69C-E08177F1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4765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28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/>
            </a:pPr>
            <a:r>
              <a:rPr sz="1500" b="1"/>
              <a:t>Invalid signature</a:t>
            </a:r>
          </a:p>
          <a:p xmlns:a="http://schemas.openxmlformats.org/drawingml/2006/main">
            <a:pPr algn="ctr">
              <a:defRPr sz="1500" b="1"/>
            </a:pPr>
            <a:r>
              <a:rPr sz="1500" b="1"/>
              <a:t>Untrusted traffic</a:t>
            </a:r>
          </a:p>
        </p:txBody>
      </p:sp>
      <p:sp>
        <p:nvSpPr>
          <p:cNvPr id="11" name="unsigned-outcome">
            <a:extLst xmlns:a="http://schemas.openxmlformats.org/drawingml/2006/main">
              <a:ext uri="{FF2B5EF4-FFF2-40B4-BE49-F238E27FC236}">
                <a16:creationId xmlns:a16="http://schemas.microsoft.com/office/drawing/2014/main" id="{04ED0E24-B073-4FB7-8497-75B0A9F2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28575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6870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/>
            </a:pPr>
            <a:r>
              <a:rPr sz="1500" b="1"/>
              <a:t>Reject without</a:t>
            </a:r>
          </a:p>
          <a:p xmlns:a="http://schemas.openxmlformats.org/drawingml/2006/main">
            <a:pPr algn="ctr">
              <a:defRPr sz="1500" b="1"/>
            </a:pPr>
            <a:r>
              <a:rPr sz="1500" b="1"/>
              <a:t>operational alert noise</a:t>
            </a:r>
          </a:p>
        </p:txBody>
      </p:sp>
      <p:cxnSp>
        <p:nvCxnSpPr>
          <p:cNvPr id="2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352800" y="4695825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8707A"/>
            </a:solidFill>
            <a:prstDash val="solid"/>
            <a:tailEnd type="triangle" w="sm" len="sm"/>
          </a:ln>
        </p:spPr>
      </p:cxnSp>
      <p:sp>
        <p:nvSpPr>
          <p:cNvPr id="13" name="yuno-divider">
            <a:extLst xmlns:a="http://schemas.openxmlformats.org/drawingml/2006/main">
              <a:ext uri="{FF2B5EF4-FFF2-40B4-BE49-F238E27FC236}">
                <a16:creationId xmlns:a16="http://schemas.microsoft.com/office/drawing/2014/main" id="{3D2366C8-E8F0-42BD-ABE7-6F31D70B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7EE"/>
            </a:solidFill>
            <a:prstDash val="solid"/>
          </a:ln>
        </p:spPr>
      </p:sp>
      <p:sp>
        <p:nvSpPr>
          <p:cNvPr id="14" name="yuno-boundary-head">
            <a:extLst xmlns:a="http://schemas.openxmlformats.org/drawingml/2006/main">
              <a:ext uri="{FF2B5EF4-FFF2-40B4-BE49-F238E27FC236}">
                <a16:creationId xmlns:a16="http://schemas.microsoft.com/office/drawing/2014/main" id="{6BF6733B-3460-4C05-8762-98B12BD5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DEMO BOUNDARY</a:t>
            </a:r>
          </a:p>
        </p:txBody>
      </p:sp>
      <p:sp>
        <p:nvSpPr>
          <p:cNvPr id="15" name="yuno-boundary-copy">
            <a:extLst xmlns:a="http://schemas.openxmlformats.org/drawingml/2006/main">
              <a:ext uri="{FF2B5EF4-FFF2-40B4-BE49-F238E27FC236}">
                <a16:creationId xmlns:a16="http://schemas.microsoft.com/office/drawing/2014/main" id="{6809924C-8ACE-4BCE-82F7-D03BEE9F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94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124"/>
                </a:solidFill>
              </a:defRPr>
            </a:pPr>
            <a:r>
              <a:rPr sz="1650" b="1" i="0">
                <a:solidFill>
                  <a:srgbClr val="202124"/>
                </a:solidFill>
              </a:rPr>
              <a:t>Synthetic local telemetry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 i="0">
                <a:solidFill>
                  <a:srgbClr val="202124"/>
                </a:solidFill>
              </a:defRPr>
            </a:pPr>
            <a:r>
              <a:rPr sz="1650" b="1" i="0">
                <a:solidFill>
                  <a:srgbClr val="202124"/>
                </a:solidFill>
              </a:rPr>
              <a:t>No Yuno API call</a:t>
            </a:r>
          </a:p>
          <a:p xmlns:a="http://schemas.openxmlformats.org/drawingml/2006/main">
            <a:pPr algn="l">
              <a:defRPr sz="1650" b="1" i="0">
                <a:solidFill>
                  <a:srgbClr val="202124"/>
                </a:solidFill>
              </a:defRPr>
            </a:pPr>
            <a:r>
              <a:rPr sz="1650" b="1" i="0">
                <a:solidFill>
                  <a:srgbClr val="202124"/>
                </a:solidFill>
              </a:rPr>
              <a:t>No email delivery</a:t>
            </a:r>
          </a:p>
          <a:p xmlns:a="http://schemas.openxmlformats.org/drawingml/2006/main">
            <a:pPr algn="l">
              <a:defRPr sz="1650" b="1" i="0">
                <a:solidFill>
                  <a:srgbClr val="202124"/>
                </a:solidFill>
              </a:defRPr>
            </a:pPr>
            <a:r>
              <a:rPr sz="1650" b="1" i="0">
                <a:solidFill>
                  <a:srgbClr val="202124"/>
                </a:solidFill>
              </a:rPr>
              <a:t>No payment-metric mutation</a:t>
            </a:r>
          </a:p>
        </p:txBody>
      </p:sp>
    </p:spTree>
    <p:extLst>
      <p:ext uri="{BB962C8B-B14F-4D97-AF65-F5344CB8AC3E}">
        <p14:creationId xmlns:p14="http://schemas.microsoft.com/office/powerpoint/2010/main" val="1981735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ontent-field">
            <a:extLst xmlns:a="http://schemas.openxmlformats.org/drawingml/2006/main">
              <a:ext uri="{FF2B5EF4-FFF2-40B4-BE49-F238E27FC236}">
                <a16:creationId xmlns:a16="http://schemas.microsoft.com/office/drawing/2014/main" id="{FDA48090-70C7-462F-8BBE-DAD19569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096000"/>
          </a:xfrm>
          <a:prstGeom xmlns:a="http://schemas.openxmlformats.org/drawingml/2006/main" prst="roundRect">
            <a:avLst>
              <a:gd name="adj" fmla="val 2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BCE03D6-8F22-4DDD-9BEE-FC194FA3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CDDEA693-4ED8-405F-B92B-FF31219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282D"/>
                </a:solidFill>
              </a:defRPr>
            </a:pPr>
            <a:r>
              <a:rPr sz="1050" b="1" i="0">
                <a:solidFill>
                  <a:srgbClr val="C6282D"/>
                </a:solidFill>
              </a:rPr>
              <a:t>TECHNICAL CLOSE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26BE53-4996-48A1-B27F-BF0933A3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71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02124"/>
                </a:solidFill>
              </a:defRPr>
            </a:pPr>
            <a:r>
              <a:rPr sz="3000" b="1" i="0">
                <a:solidFill>
                  <a:srgbClr val="202124"/>
                </a:solidFill>
              </a:rPr>
              <a:t>The delivery is reproducible and defendable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6485867-01C3-4617-9D27-7FA21DD7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8001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8707A"/>
                </a:solidFill>
              </a:defRPr>
            </a:pPr>
            <a:r>
              <a:rPr sz="1050" b="1" i="0">
                <a:solidFill>
                  <a:srgbClr val="68707A"/>
                </a:solidFill>
              </a:rPr>
              <a:t>09</a:t>
            </a:r>
          </a:p>
        </p:txBody>
      </p:sp>
      <p:sp>
        <p:nvSpPr>
          <p:cNvPr id="6" name="verification-number">
            <a:extLst xmlns:a="http://schemas.openxmlformats.org/drawingml/2006/main">
              <a:ext uri="{FF2B5EF4-FFF2-40B4-BE49-F238E27FC236}">
                <a16:creationId xmlns:a16="http://schemas.microsoft.com/office/drawing/2014/main" id="{B954FA6C-33EC-4C19-A9AD-24B1C15F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00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C6282D"/>
                </a:solidFill>
              </a:defRPr>
            </a:pPr>
            <a:r>
              <a:rPr sz="4350" b="1" i="0">
                <a:solidFill>
                  <a:srgbClr val="C6282D"/>
                </a:solidFill>
              </a:rPr>
              <a:t>157</a:t>
            </a:r>
          </a:p>
        </p:txBody>
      </p:sp>
      <p:sp>
        <p:nvSpPr>
          <p:cNvPr id="7" name="verification-label">
            <a:extLst xmlns:a="http://schemas.openxmlformats.org/drawingml/2006/main">
              <a:ext uri="{FF2B5EF4-FFF2-40B4-BE49-F238E27FC236}">
                <a16:creationId xmlns:a16="http://schemas.microsoft.com/office/drawing/2014/main" id="{B484ADC9-A062-4152-B86F-48FC8312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124"/>
                </a:solidFill>
              </a:defRPr>
            </a:pPr>
            <a:r>
              <a:rPr sz="1650" b="1" i="0">
                <a:solidFill>
                  <a:srgbClr val="202124"/>
                </a:solidFill>
              </a:rPr>
              <a:t>tests passed</a:t>
            </a:r>
          </a:p>
        </p:txBody>
      </p:sp>
      <p:sp>
        <p:nvSpPr>
          <p:cNvPr id="8" name="verification-list">
            <a:extLst xmlns:a="http://schemas.openxmlformats.org/drawingml/2006/main">
              <a:ext uri="{FF2B5EF4-FFF2-40B4-BE49-F238E27FC236}">
                <a16:creationId xmlns:a16="http://schemas.microsoft.com/office/drawing/2014/main" id="{6E06EC84-92B5-4A33-8F10-AADFC12E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Deterministic MOCK_MODE demo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FastAPI + two Streamlit surfaces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5s connect / 70s assistant read timeout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Slow-LLM regression coverage</a:t>
            </a:r>
          </a:p>
          <a:p xmlns:a="http://schemas.openxmlformats.org/drawingml/2006/main">
            <a:pPr algn="l">
              <a:defRPr sz="1500" b="0" i="0">
                <a:solidFill>
                  <a:srgbClr val="68707A"/>
                </a:solidFill>
              </a:defRPr>
            </a:pPr>
            <a:r>
              <a:rPr sz="1500" b="0" i="0">
                <a:solidFill>
                  <a:srgbClr val="68707A"/>
                </a:solidFill>
              </a:rPr>
              <a:t>• No secrets versioned</a:t>
            </a:r>
          </a:p>
        </p:txBody>
      </p:sp>
      <p:sp>
        <p:nvSpPr>
          <p:cNvPr id="9" name="defense-divider">
            <a:extLst xmlns:a="http://schemas.openxmlformats.org/drawingml/2006/main">
              <a:ext uri="{FF2B5EF4-FFF2-40B4-BE49-F238E27FC236}">
                <a16:creationId xmlns:a16="http://schemas.microsoft.com/office/drawing/2014/main" id="{F2D3E453-3F56-42FE-A0D0-0D211B50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050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7EE"/>
            </a:solidFill>
            <a:prstDash val="solid"/>
          </a:ln>
        </p:spPr>
      </p:sp>
      <p:sp>
        <p:nvSpPr>
          <p:cNvPr id="10" name="defense-head">
            <a:extLst xmlns:a="http://schemas.openxmlformats.org/drawingml/2006/main">
              <a:ext uri="{FF2B5EF4-FFF2-40B4-BE49-F238E27FC236}">
                <a16:creationId xmlns:a16="http://schemas.microsoft.com/office/drawing/2014/main" id="{E3A44A6D-6720-4FF4-A65A-9BD2EECC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02124"/>
                </a:solidFill>
              </a:defRPr>
            </a:pPr>
            <a:r>
              <a:rPr sz="2025" b="1" i="0">
                <a:solidFill>
                  <a:srgbClr val="202124"/>
                </a:solidFill>
              </a:rPr>
              <a:t>What the judges can inspect</a:t>
            </a:r>
          </a:p>
        </p:txBody>
      </p:sp>
      <p:sp>
        <p:nvSpPr>
          <p:cNvPr id="11" name="defense-item-head-0">
            <a:extLst xmlns:a="http://schemas.openxmlformats.org/drawingml/2006/main">
              <a:ext uri="{FF2B5EF4-FFF2-40B4-BE49-F238E27FC236}">
                <a16:creationId xmlns:a16="http://schemas.microsoft.com/office/drawing/2014/main" id="{2BF666D3-D1EB-4913-8222-738D0198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README</a:t>
            </a:r>
          </a:p>
        </p:txBody>
      </p:sp>
      <p:sp>
        <p:nvSpPr>
          <p:cNvPr id="12" name="defense-item-body-0">
            <a:extLst xmlns:a="http://schemas.openxmlformats.org/drawingml/2006/main">
              <a:ext uri="{FF2B5EF4-FFF2-40B4-BE49-F238E27FC236}">
                <a16:creationId xmlns:a16="http://schemas.microsoft.com/office/drawing/2014/main" id="{F470F2B0-2BB6-494F-82B7-F863A3C2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124"/>
                </a:solidFill>
              </a:defRPr>
            </a:pPr>
            <a:r>
              <a:rPr sz="1350" b="0" i="0">
                <a:solidFill>
                  <a:srgbClr val="202124"/>
                </a:solidFill>
              </a:rPr>
              <a:t>Install, runbook and rendered architecture</a:t>
            </a:r>
          </a:p>
        </p:txBody>
      </p:sp>
      <p:sp>
        <p:nvSpPr>
          <p:cNvPr id="13" name="defense-item-head-1">
            <a:extLst xmlns:a="http://schemas.openxmlformats.org/drawingml/2006/main">
              <a:ext uri="{FF2B5EF4-FFF2-40B4-BE49-F238E27FC236}">
                <a16:creationId xmlns:a16="http://schemas.microsoft.com/office/drawing/2014/main" id="{747B05A4-5A1D-4912-ADB4-45F7300C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194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SUBMISSION</a:t>
            </a:r>
          </a:p>
        </p:txBody>
      </p:sp>
      <p:sp>
        <p:nvSpPr>
          <p:cNvPr id="14" name="defense-item-body-1">
            <a:extLst xmlns:a="http://schemas.openxmlformats.org/drawingml/2006/main">
              <a:ext uri="{FF2B5EF4-FFF2-40B4-BE49-F238E27FC236}">
                <a16:creationId xmlns:a16="http://schemas.microsoft.com/office/drawing/2014/main" id="{5E59F2FD-591F-4221-98F7-3923807E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124"/>
                </a:solidFill>
              </a:defRPr>
            </a:pPr>
            <a:r>
              <a:rPr sz="1350" b="0" i="0">
                <a:solidFill>
                  <a:srgbClr val="202124"/>
                </a:solidFill>
              </a:rPr>
              <a:t>Capabilities, metrics and limitations</a:t>
            </a:r>
          </a:p>
        </p:txBody>
      </p:sp>
      <p:sp>
        <p:nvSpPr>
          <p:cNvPr id="15" name="defense-item-head-2">
            <a:extLst xmlns:a="http://schemas.openxmlformats.org/drawingml/2006/main">
              <a:ext uri="{FF2B5EF4-FFF2-40B4-BE49-F238E27FC236}">
                <a16:creationId xmlns:a16="http://schemas.microsoft.com/office/drawing/2014/main" id="{D011E619-6AED-4DA7-A7C1-7E19F40E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243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DECISIONS</a:t>
            </a:r>
          </a:p>
        </p:txBody>
      </p:sp>
      <p:sp>
        <p:nvSpPr>
          <p:cNvPr id="16" name="defense-item-body-2">
            <a:extLst xmlns:a="http://schemas.openxmlformats.org/drawingml/2006/main">
              <a:ext uri="{FF2B5EF4-FFF2-40B4-BE49-F238E27FC236}">
                <a16:creationId xmlns:a16="http://schemas.microsoft.com/office/drawing/2014/main" id="{FCC18EE1-C7EC-4B31-8E84-622500E7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124"/>
                </a:solidFill>
              </a:defRPr>
            </a:pPr>
            <a:r>
              <a:rPr sz="1350" b="0" i="0">
                <a:solidFill>
                  <a:srgbClr val="202124"/>
                </a:solidFill>
              </a:rPr>
              <a:t>44 numbered technical decisions</a:t>
            </a:r>
          </a:p>
        </p:txBody>
      </p:sp>
      <p:sp>
        <p:nvSpPr>
          <p:cNvPr id="17" name="defense-item-head-3">
            <a:extLst xmlns:a="http://schemas.openxmlformats.org/drawingml/2006/main">
              <a:ext uri="{FF2B5EF4-FFF2-40B4-BE49-F238E27FC236}">
                <a16:creationId xmlns:a16="http://schemas.microsoft.com/office/drawing/2014/main" id="{132CF49B-F853-4AF6-88E4-CDA6D73D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29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DEMO GUIDE</a:t>
            </a:r>
          </a:p>
        </p:txBody>
      </p:sp>
      <p:sp>
        <p:nvSpPr>
          <p:cNvPr id="18" name="defense-item-body-3">
            <a:extLst xmlns:a="http://schemas.openxmlformats.org/drawingml/2006/main">
              <a:ext uri="{FF2B5EF4-FFF2-40B4-BE49-F238E27FC236}">
                <a16:creationId xmlns:a16="http://schemas.microsoft.com/office/drawing/2014/main" id="{C999B7D6-E056-4FFC-9121-DC31ACD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291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124"/>
                </a:solidFill>
              </a:defRPr>
            </a:pPr>
            <a:r>
              <a:rPr sz="1350" b="0" i="0">
                <a:solidFill>
                  <a:srgbClr val="202124"/>
                </a:solidFill>
              </a:rPr>
              <a:t>Exact preflight and recording paths</a:t>
            </a:r>
          </a:p>
        </p:txBody>
      </p:sp>
      <p:sp>
        <p:nvSpPr>
          <p:cNvPr id="19" name="defense-risk">
            <a:extLst xmlns:a="http://schemas.openxmlformats.org/drawingml/2006/main">
              <a:ext uri="{FF2B5EF4-FFF2-40B4-BE49-F238E27FC236}">
                <a16:creationId xmlns:a16="http://schemas.microsoft.com/office/drawing/2014/main" id="{7B58F410-3934-41EE-B1FD-DE80D2C3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721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07A"/>
                </a:solidFill>
              </a:defRPr>
            </a:pPr>
            <a:r>
              <a:rPr sz="1275" b="0" i="0">
                <a:solidFill>
                  <a:srgbClr val="68707A"/>
                </a:solidFill>
              </a:rPr>
              <a:t>Honest limits: in-memory core state, synthetic Yuno sandbox, optional external narration/Telegram, and no claimed loss-error accuracy.</a:t>
            </a:r>
          </a:p>
        </p:txBody>
      </p:sp>
    </p:spTree>
    <p:extLst>
      <p:ext uri="{BB962C8B-B14F-4D97-AF65-F5344CB8AC3E}">
        <p14:creationId xmlns:p14="http://schemas.microsoft.com/office/powerpoint/2010/main" val="1209701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field">
            <a:extLst xmlns:a="http://schemas.openxmlformats.org/drawingml/2006/main">
              <a:ext uri="{FF2B5EF4-FFF2-40B4-BE49-F238E27FC236}">
                <a16:creationId xmlns:a16="http://schemas.microsoft.com/office/drawing/2014/main" id="{4964F36C-D7B7-4388-8C18-0B1061CA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829300"/>
          </a:xfrm>
          <a:prstGeom xmlns:a="http://schemas.openxmlformats.org/drawingml/2006/main" prst="roundRect">
            <a:avLst>
              <a:gd name="adj" fmla="val 22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41CCB1E3-0E0F-405F-9590-7C413809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3E3DE085-8800-4BDC-95B7-B93AE49F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953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6282D"/>
                </a:solidFill>
              </a:defRPr>
            </a:pPr>
            <a:r>
              <a:rPr sz="1200" b="1" i="0">
                <a:solidFill>
                  <a:srgbClr val="C6282D"/>
                </a:solidFill>
              </a:rPr>
              <a:t>THE CONTROL TOWER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60D9762-FEDC-409F-ABF3-D7A6C352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9525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202124"/>
                </a:solidFill>
              </a:defRPr>
            </a:pPr>
            <a:r>
              <a:rPr sz="3900" b="1" i="0">
                <a:solidFill>
                  <a:srgbClr val="202124"/>
                </a:solidFill>
              </a:rPr>
              <a:t>Detect the loss.</a:t>
            </a:r>
          </a:p>
          <a:p xmlns:a="http://schemas.openxmlformats.org/drawingml/2006/main">
            <a:pPr algn="l">
              <a:defRPr sz="3900" b="1" i="0">
                <a:solidFill>
                  <a:srgbClr val="202124"/>
                </a:solidFill>
              </a:defRPr>
            </a:pPr>
            <a:r>
              <a:rPr sz="3900" b="1" i="0">
                <a:solidFill>
                  <a:srgbClr val="202124"/>
                </a:solidFill>
              </a:rPr>
              <a:t>Prove the cause.</a:t>
            </a:r>
          </a:p>
          <a:p xmlns:a="http://schemas.openxmlformats.org/drawingml/2006/main">
            <a:pPr algn="l">
              <a:defRPr sz="3900" b="1" i="0">
                <a:solidFill>
                  <a:srgbClr val="202124"/>
                </a:solidFill>
              </a:defRPr>
            </a:pPr>
            <a:r>
              <a:rPr sz="3900" b="1" i="0">
                <a:solidFill>
                  <a:srgbClr val="202124"/>
                </a:solidFill>
              </a:rPr>
              <a:t>Keep the human in control.</a:t>
            </a:r>
          </a:p>
        </p:txBody>
      </p:sp>
      <p:sp>
        <p:nvSpPr>
          <p:cNvPr id="5" name="close-proof">
            <a:extLst xmlns:a="http://schemas.openxmlformats.org/drawingml/2006/main">
              <a:ext uri="{FF2B5EF4-FFF2-40B4-BE49-F238E27FC236}">
                <a16:creationId xmlns:a16="http://schemas.microsoft.com/office/drawing/2014/main" id="{DFBD3604-B459-4AFE-A956-30248165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8707A"/>
                </a:solidFill>
              </a:defRPr>
            </a:pPr>
            <a:r>
              <a:rPr sz="1650" b="0" i="0">
                <a:solidFill>
                  <a:srgbClr val="68707A"/>
                </a:solidFill>
              </a:rPr>
              <a:t>Live trial-by-fire · evidence-bound diagnosis · economic impact · safe recommendation</a:t>
            </a:r>
          </a:p>
        </p:txBody>
      </p:sp>
      <p:sp>
        <p:nvSpPr>
          <p:cNvPr id="6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35CA90DD-86CA-4A93-832E-7FB88DA3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628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action-text">
            <a:extLst xmlns:a="http://schemas.openxmlformats.org/drawingml/2006/main">
              <a:ext uri="{FF2B5EF4-FFF2-40B4-BE49-F238E27FC236}">
                <a16:creationId xmlns:a16="http://schemas.microsoft.com/office/drawing/2014/main" id="{20390646-58FB-4439-83FB-801043D2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483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READY FOR THE LIVE DEMO</a:t>
            </a:r>
          </a:p>
        </p:txBody>
      </p:sp>
    </p:spTree>
    <p:extLst>
      <p:ext uri="{BB962C8B-B14F-4D97-AF65-F5344CB8AC3E}">
        <p14:creationId xmlns:p14="http://schemas.microsoft.com/office/powerpoint/2010/main" val="1154806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2026-08-30T12:38:48.6040000Z</dcterms:created>
  <dcterms:modified xsi:type="dcterms:W3CDTF">2026-08-30T12:38:48.6040000Z</dcterms:modified>
</coreProperties>
</file>